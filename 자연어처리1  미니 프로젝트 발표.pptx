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Tlab 돋움 레귤러" panose="02060500000000000000" pitchFamily="18" charset="-127"/>
      <p:regular r:id="rId26"/>
    </p:embeddedFont>
    <p:embeddedFont>
      <p:font typeface="Tlab 돋움 레귤러 Bold" panose="02060800000000000000" pitchFamily="18" charset="-127"/>
      <p:regular r:id="rId27"/>
      <p:bold r:id="rId28"/>
    </p:embeddedFont>
    <p:embeddedFont>
      <p:font typeface="Cabin Bold" pitchFamily="2" charset="77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 autoAdjust="0"/>
    <p:restoredTop sz="94604" autoAdjust="0"/>
  </p:normalViewPr>
  <p:slideViewPr>
    <p:cSldViewPr>
      <p:cViewPr varScale="1">
        <p:scale>
          <a:sx n="76" d="100"/>
          <a:sy n="76" d="100"/>
        </p:scale>
        <p:origin x="71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61384" y="2156741"/>
            <a:ext cx="2365231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999" b="1" spc="821" dirty="0">
                <a:solidFill>
                  <a:srgbClr val="4A60DD"/>
                </a:solidFill>
                <a:latin typeface="Cabin Bold"/>
                <a:ea typeface="Cabin Bold"/>
                <a:cs typeface="Cabin Bold"/>
                <a:sym typeface="Cabin Bold"/>
              </a:rPr>
              <a:t>PROJECT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829786" y="2748639"/>
            <a:ext cx="711974" cy="711974"/>
            <a:chOff x="0" y="0"/>
            <a:chExt cx="949298" cy="949298"/>
          </a:xfrm>
        </p:grpSpPr>
        <p:sp>
          <p:nvSpPr>
            <p:cNvPr id="4" name="AutoShape 4"/>
            <p:cNvSpPr/>
            <p:nvPr/>
          </p:nvSpPr>
          <p:spPr>
            <a:xfrm>
              <a:off x="0" y="474649"/>
              <a:ext cx="949298" cy="0"/>
            </a:xfrm>
            <a:prstGeom prst="line">
              <a:avLst/>
            </a:prstGeom>
            <a:ln w="1524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474649" y="0"/>
              <a:ext cx="0" cy="949298"/>
            </a:xfrm>
            <a:prstGeom prst="line">
              <a:avLst/>
            </a:prstGeom>
            <a:ln w="1524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139021" y="139021"/>
              <a:ext cx="671255" cy="671255"/>
            </a:xfrm>
            <a:prstGeom prst="line">
              <a:avLst/>
            </a:prstGeom>
            <a:ln w="1524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7" name="AutoShape 7"/>
            <p:cNvSpPr/>
            <p:nvPr/>
          </p:nvSpPr>
          <p:spPr>
            <a:xfrm flipH="1" flipV="1">
              <a:off x="139021" y="139021"/>
              <a:ext cx="671255" cy="671255"/>
            </a:xfrm>
            <a:prstGeom prst="line">
              <a:avLst/>
            </a:prstGeom>
            <a:ln w="1524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05000" y="3594512"/>
            <a:ext cx="14748768" cy="2769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8999" b="1" spc="-440" dirty="0" err="1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논문</a:t>
            </a:r>
            <a:r>
              <a:rPr lang="en-US" sz="8999" b="1" spc="-440" dirty="0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 </a:t>
            </a:r>
            <a:r>
              <a:rPr lang="en-US" sz="8999" b="1" spc="-440" dirty="0" err="1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제목</a:t>
            </a:r>
            <a:r>
              <a:rPr lang="en-US" sz="8999" b="1" spc="-440" dirty="0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 </a:t>
            </a:r>
            <a:r>
              <a:rPr lang="en-US" sz="8999" b="1" spc="-440" dirty="0" err="1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생성기</a:t>
            </a:r>
            <a:endParaRPr lang="en-US" sz="8999" b="1" spc="-440" dirty="0">
              <a:solidFill>
                <a:srgbClr val="4A60DD"/>
              </a:solidFill>
              <a:latin typeface="Tlab 돋움 레귤러 Bold"/>
              <a:ea typeface="Tlab 돋움 레귤러 Bold"/>
              <a:sym typeface="Tlab 돋움 레귤러 Bold"/>
            </a:endParaRPr>
          </a:p>
          <a:p>
            <a:pPr algn="ctr"/>
            <a:r>
              <a:rPr lang="en-US" sz="8999" b="1" spc="-440" dirty="0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Ab2Ti(Abstract to </a:t>
            </a:r>
            <a:r>
              <a:rPr lang="en-US" sz="8999" b="1" spc="-440" dirty="0" err="1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TItle</a:t>
            </a:r>
            <a:r>
              <a:rPr lang="en-US" sz="8999" b="1" spc="-440" dirty="0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)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20800" y="8496300"/>
            <a:ext cx="3861348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96"/>
              </a:lnSpc>
            </a:pPr>
            <a:r>
              <a:rPr lang="en-US" altLang="ko-KR" sz="3600" b="1" spc="-79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</a:t>
            </a:r>
            <a:r>
              <a:rPr lang="ko-KR" altLang="en-US" sz="3600" b="1" spc="-79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조</a:t>
            </a:r>
            <a:endParaRPr lang="en-US" altLang="ko-KR" sz="3600" b="1" spc="-79" dirty="0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r">
              <a:lnSpc>
                <a:spcPts val="3996"/>
              </a:lnSpc>
            </a:pPr>
            <a:r>
              <a:rPr lang="en-US" sz="3600" b="1" spc="-79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202204046 </a:t>
            </a:r>
            <a:r>
              <a:rPr lang="en-US" sz="3600" b="1" spc="-79" dirty="0" err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류동우</a:t>
            </a:r>
            <a:endParaRPr lang="en-US" sz="3600" b="1" spc="-79" dirty="0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r">
              <a:lnSpc>
                <a:spcPts val="3996"/>
              </a:lnSpc>
            </a:pPr>
            <a:r>
              <a:rPr lang="en-US" sz="3600" b="1" spc="-79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202204249 이민우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3843" y="725329"/>
            <a:ext cx="2162398" cy="64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84"/>
              </a:lnSpc>
              <a:spcBef>
                <a:spcPct val="0"/>
              </a:spcBef>
            </a:pPr>
            <a:r>
              <a:rPr lang="en-US" sz="4499" b="1" spc="-22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최종 </a:t>
            </a:r>
            <a:r>
              <a:rPr lang="en-US" sz="4499" b="1" u="none" strike="noStrike" spc="-22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발표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6931E330-BD17-77D0-E713-B5EF581DF398}"/>
              </a:ext>
            </a:extLst>
          </p:cNvPr>
          <p:cNvSpPr txBox="1"/>
          <p:nvPr/>
        </p:nvSpPr>
        <p:spPr>
          <a:xfrm>
            <a:off x="1811389" y="6223699"/>
            <a:ext cx="14748768" cy="1193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9"/>
              </a:lnSpc>
            </a:pPr>
            <a:r>
              <a:rPr lang="en-US" sz="6000" b="1" spc="-44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자연어</a:t>
            </a:r>
            <a:r>
              <a:rPr lang="en-US" sz="6000" b="1" spc="-440" dirty="0">
                <a:solidFill>
                  <a:schemeClr val="tx1">
                    <a:lumMod val="50000"/>
                    <a:lumOff val="50000"/>
                  </a:schemeClr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6000" b="1" spc="-44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처리Ⅰ미니프로젝트</a:t>
            </a:r>
            <a:r>
              <a:rPr lang="en-US" sz="6000" b="1" spc="-440" dirty="0">
                <a:solidFill>
                  <a:schemeClr val="tx1">
                    <a:lumMod val="50000"/>
                    <a:lumOff val="50000"/>
                  </a:schemeClr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19065"/>
            <a:ext cx="673000" cy="673000"/>
            <a:chOff x="0" y="0"/>
            <a:chExt cx="897333" cy="897333"/>
          </a:xfrm>
        </p:grpSpPr>
        <p:sp>
          <p:nvSpPr>
            <p:cNvPr id="3" name="AutoShape 3"/>
            <p:cNvSpPr/>
            <p:nvPr/>
          </p:nvSpPr>
          <p:spPr>
            <a:xfrm>
              <a:off x="0" y="448667"/>
              <a:ext cx="897333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48667" y="0"/>
              <a:ext cx="0" cy="897333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31411" y="131411"/>
              <a:ext cx="634511" cy="634511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31411" y="131411"/>
              <a:ext cx="634511" cy="634511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970583" y="1180906"/>
            <a:ext cx="4219724" cy="112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8499" b="1" spc="-254">
                <a:solidFill>
                  <a:srgbClr val="4A60DD"/>
                </a:solidFill>
                <a:latin typeface="Cabin Bold"/>
                <a:ea typeface="Cabin Bold"/>
                <a:cs typeface="Cabin Bold"/>
                <a:sym typeface="Cabin Bold"/>
              </a:rPr>
              <a:t>Contents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3971" y="2740427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3971" y="3923066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3971" y="4913927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3971" y="7606956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4.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389" y="2717073"/>
            <a:ext cx="5403203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900" b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미니 프로젝트 주제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5389" y="4925923"/>
            <a:ext cx="8554972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900" b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85389" y="3841414"/>
            <a:ext cx="5403203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900" b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사용한 데이터셋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85389" y="7606956"/>
            <a:ext cx="5403203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900" b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데모 시연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5200" y="5769894"/>
            <a:ext cx="8554972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0" lvl="1" indent="-421005" algn="l">
              <a:lnSpc>
                <a:spcPts val="8891"/>
              </a:lnSpc>
              <a:buFont typeface="Arial"/>
              <a:buChar char="•"/>
            </a:pPr>
            <a:r>
              <a:rPr lang="en-US" sz="3900" b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Google T5, 수정 코드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5200" y="6616095"/>
            <a:ext cx="8554972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0" lvl="1" indent="-421005" algn="l">
              <a:lnSpc>
                <a:spcPts val="8891"/>
              </a:lnSpc>
              <a:buFont typeface="Arial"/>
              <a:buChar char="•"/>
            </a:pPr>
            <a:r>
              <a:rPr lang="en-US" sz="3900" b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Dynamic Context Gates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41824" y="4832450"/>
            <a:ext cx="4717476" cy="4425850"/>
          </a:xfrm>
          <a:custGeom>
            <a:avLst/>
            <a:gdLst/>
            <a:ahLst/>
            <a:cxnLst/>
            <a:rect l="l" t="t" r="r" b="b"/>
            <a:pathLst>
              <a:path w="4717476" h="4425850">
                <a:moveTo>
                  <a:pt x="0" y="0"/>
                </a:moveTo>
                <a:lnTo>
                  <a:pt x="4717476" y="0"/>
                </a:lnTo>
                <a:lnTo>
                  <a:pt x="4717476" y="4425850"/>
                </a:lnTo>
                <a:lnTo>
                  <a:pt x="0" y="4425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grpSp>
        <p:nvGrpSpPr>
          <p:cNvPr id="3" name="Group 3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4" name="AutoShape 4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7" name="AutoShape 7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4010716"/>
            <a:ext cx="11301259" cy="5763642"/>
          </a:xfrm>
          <a:custGeom>
            <a:avLst/>
            <a:gdLst/>
            <a:ahLst/>
            <a:cxnLst/>
            <a:rect l="l" t="t" r="r" b="b"/>
            <a:pathLst>
              <a:path w="11301259" h="5763642">
                <a:moveTo>
                  <a:pt x="0" y="0"/>
                </a:moveTo>
                <a:lnTo>
                  <a:pt x="11301259" y="0"/>
                </a:lnTo>
                <a:lnTo>
                  <a:pt x="11301259" y="5763642"/>
                </a:lnTo>
                <a:lnTo>
                  <a:pt x="0" y="5763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9" name="TextBox 9"/>
          <p:cNvSpPr txBox="1"/>
          <p:nvPr/>
        </p:nvSpPr>
        <p:spPr>
          <a:xfrm>
            <a:off x="1028700" y="3065328"/>
            <a:ext cx="16143707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 spc="-39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논문을 보고, 연구하다 보면 드는 의문 → 어떻게 논문의 제목을 잘 지을까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2796" y="1257103"/>
            <a:ext cx="5997609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프로젝트 배경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30599" y="365938"/>
            <a:ext cx="2708536" cy="36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미니 프로젝트 설명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2658959"/>
            <a:ext cx="10272842" cy="4584256"/>
          </a:xfrm>
          <a:custGeom>
            <a:avLst/>
            <a:gdLst/>
            <a:ahLst/>
            <a:cxnLst/>
            <a:rect l="l" t="t" r="r" b="b"/>
            <a:pathLst>
              <a:path w="10272842" h="4584256">
                <a:moveTo>
                  <a:pt x="0" y="0"/>
                </a:moveTo>
                <a:lnTo>
                  <a:pt x="10272842" y="0"/>
                </a:lnTo>
                <a:lnTo>
                  <a:pt x="10272842" y="4584256"/>
                </a:lnTo>
                <a:lnTo>
                  <a:pt x="0" y="458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Freeform 8"/>
          <p:cNvSpPr/>
          <p:nvPr/>
        </p:nvSpPr>
        <p:spPr>
          <a:xfrm>
            <a:off x="11430867" y="4431986"/>
            <a:ext cx="6921352" cy="1038203"/>
          </a:xfrm>
          <a:custGeom>
            <a:avLst/>
            <a:gdLst/>
            <a:ahLst/>
            <a:cxnLst/>
            <a:rect l="l" t="t" r="r" b="b"/>
            <a:pathLst>
              <a:path w="6921352" h="1038203">
                <a:moveTo>
                  <a:pt x="0" y="0"/>
                </a:moveTo>
                <a:lnTo>
                  <a:pt x="6921352" y="0"/>
                </a:lnTo>
                <a:lnTo>
                  <a:pt x="6921352" y="1038202"/>
                </a:lnTo>
                <a:lnTo>
                  <a:pt x="0" y="1038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9" name="TextBox 9"/>
          <p:cNvSpPr txBox="1"/>
          <p:nvPr/>
        </p:nvSpPr>
        <p:spPr>
          <a:xfrm>
            <a:off x="2303342" y="7520244"/>
            <a:ext cx="5389995" cy="648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2800" b="1" spc="28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Abstract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6545" y="7520244"/>
            <a:ext cx="5389995" cy="648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2800" b="1" spc="28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82796" y="1257103"/>
            <a:ext cx="8192746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우리가 집중했던 것은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10404243" y="5093763"/>
            <a:ext cx="895224" cy="99473"/>
          </a:xfrm>
          <a:prstGeom prst="line">
            <a:avLst/>
          </a:prstGeom>
          <a:ln w="200025" cap="flat">
            <a:solidFill>
              <a:srgbClr val="4A60D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Box 13"/>
          <p:cNvSpPr txBox="1"/>
          <p:nvPr/>
        </p:nvSpPr>
        <p:spPr>
          <a:xfrm>
            <a:off x="15230599" y="365938"/>
            <a:ext cx="2708536" cy="36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미니 프로젝트 설명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982796" y="1257103"/>
            <a:ext cx="8192746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프로젝트 목표 설정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9234" y="2912094"/>
            <a:ext cx="12271216" cy="3197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5"/>
              </a:lnSpc>
              <a:spcBef>
                <a:spcPct val="0"/>
              </a:spcBef>
            </a:pPr>
            <a:r>
              <a:rPr lang="en-US" sz="4774" b="1" spc="-143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T5 모델을 기반으로 논문 초록으로부터</a:t>
            </a:r>
          </a:p>
          <a:p>
            <a:pPr algn="l">
              <a:lnSpc>
                <a:spcPts val="6015"/>
              </a:lnSpc>
              <a:spcBef>
                <a:spcPct val="0"/>
              </a:spcBef>
            </a:pPr>
            <a:r>
              <a:rPr lang="en-US" sz="4774" b="1" spc="-143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적절한 제목을 생성하는 파이프라인 구축.</a:t>
            </a:r>
          </a:p>
          <a:p>
            <a:pPr algn="l">
              <a:lnSpc>
                <a:spcPts val="1432"/>
              </a:lnSpc>
              <a:spcBef>
                <a:spcPct val="0"/>
              </a:spcBef>
            </a:pPr>
            <a:endParaRPr lang="en-US" sz="4774" b="1" spc="-143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l">
              <a:lnSpc>
                <a:spcPts val="6015"/>
              </a:lnSpc>
              <a:spcBef>
                <a:spcPct val="0"/>
              </a:spcBef>
            </a:pPr>
            <a:r>
              <a:rPr lang="en-US" sz="4774" b="1" spc="-143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"Dynamic Context Gate" 메커니즘을 도입하여</a:t>
            </a:r>
          </a:p>
          <a:p>
            <a:pPr algn="l">
              <a:lnSpc>
                <a:spcPts val="6015"/>
              </a:lnSpc>
              <a:spcBef>
                <a:spcPct val="0"/>
              </a:spcBef>
            </a:pPr>
            <a:r>
              <a:rPr lang="en-US" sz="4774" b="1" spc="-143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T5 모델의 제목 생성 성능 개선 가능성 탐색.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30599" y="365938"/>
            <a:ext cx="2708536" cy="36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미니 프로젝트 설명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935457" y="2930278"/>
            <a:ext cx="11301259" cy="1327898"/>
          </a:xfrm>
          <a:custGeom>
            <a:avLst/>
            <a:gdLst/>
            <a:ahLst/>
            <a:cxnLst/>
            <a:rect l="l" t="t" r="r" b="b"/>
            <a:pathLst>
              <a:path w="11301259" h="1327898">
                <a:moveTo>
                  <a:pt x="0" y="0"/>
                </a:moveTo>
                <a:lnTo>
                  <a:pt x="11301258" y="0"/>
                </a:lnTo>
                <a:lnTo>
                  <a:pt x="11301258" y="1327898"/>
                </a:lnTo>
                <a:lnTo>
                  <a:pt x="0" y="1327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Freeform 8"/>
          <p:cNvSpPr/>
          <p:nvPr/>
        </p:nvSpPr>
        <p:spPr>
          <a:xfrm>
            <a:off x="1935457" y="4580732"/>
            <a:ext cx="7208543" cy="4316115"/>
          </a:xfrm>
          <a:custGeom>
            <a:avLst/>
            <a:gdLst/>
            <a:ahLst/>
            <a:cxnLst/>
            <a:rect l="l" t="t" r="r" b="b"/>
            <a:pathLst>
              <a:path w="7208543" h="4316115">
                <a:moveTo>
                  <a:pt x="0" y="0"/>
                </a:moveTo>
                <a:lnTo>
                  <a:pt x="7208543" y="0"/>
                </a:lnTo>
                <a:lnTo>
                  <a:pt x="7208543" y="4316116"/>
                </a:lnTo>
                <a:lnTo>
                  <a:pt x="0" y="4316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9" name="Freeform 9"/>
          <p:cNvSpPr/>
          <p:nvPr/>
        </p:nvSpPr>
        <p:spPr>
          <a:xfrm>
            <a:off x="10491766" y="4580732"/>
            <a:ext cx="6782467" cy="4316115"/>
          </a:xfrm>
          <a:custGeom>
            <a:avLst/>
            <a:gdLst/>
            <a:ahLst/>
            <a:cxnLst/>
            <a:rect l="l" t="t" r="r" b="b"/>
            <a:pathLst>
              <a:path w="6782467" h="4316115">
                <a:moveTo>
                  <a:pt x="0" y="0"/>
                </a:moveTo>
                <a:lnTo>
                  <a:pt x="6782467" y="0"/>
                </a:lnTo>
                <a:lnTo>
                  <a:pt x="6782467" y="4316116"/>
                </a:lnTo>
                <a:lnTo>
                  <a:pt x="0" y="4316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0" name="TextBox 10"/>
          <p:cNvSpPr txBox="1"/>
          <p:nvPr/>
        </p:nvSpPr>
        <p:spPr>
          <a:xfrm>
            <a:off x="1982796" y="1257103"/>
            <a:ext cx="13534014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데이터셋 : arXiv 데이터셋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5457" y="8848907"/>
            <a:ext cx="13534014" cy="64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b="1" spc="28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arXiv는 다양한 연구자의 논문을 사전 공개해 빠르게 공유하고 피드백을 받는 플랫폼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데이터셋 소개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935457" y="5952763"/>
            <a:ext cx="7208543" cy="514403"/>
            <a:chOff x="0" y="0"/>
            <a:chExt cx="1898546" cy="1354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98547" cy="135481"/>
            </a:xfrm>
            <a:custGeom>
              <a:avLst/>
              <a:gdLst/>
              <a:ahLst/>
              <a:cxnLst/>
              <a:rect l="l" t="t" r="r" b="b"/>
              <a:pathLst>
                <a:path w="1898547" h="135481">
                  <a:moveTo>
                    <a:pt x="0" y="0"/>
                  </a:moveTo>
                  <a:lnTo>
                    <a:pt x="1898547" y="0"/>
                  </a:lnTo>
                  <a:lnTo>
                    <a:pt x="1898547" y="135481"/>
                  </a:lnTo>
                  <a:lnTo>
                    <a:pt x="0" y="135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898546" cy="13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35457" y="7602595"/>
            <a:ext cx="7208543" cy="512526"/>
            <a:chOff x="0" y="0"/>
            <a:chExt cx="1898546" cy="1349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98547" cy="134986"/>
            </a:xfrm>
            <a:custGeom>
              <a:avLst/>
              <a:gdLst/>
              <a:ahLst/>
              <a:cxnLst/>
              <a:rect l="l" t="t" r="r" b="b"/>
              <a:pathLst>
                <a:path w="1898547" h="134986">
                  <a:moveTo>
                    <a:pt x="0" y="0"/>
                  </a:moveTo>
                  <a:lnTo>
                    <a:pt x="1898547" y="0"/>
                  </a:lnTo>
                  <a:lnTo>
                    <a:pt x="1898547" y="134986"/>
                  </a:lnTo>
                  <a:lnTo>
                    <a:pt x="0" y="1349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898546" cy="134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8700" y="9659795"/>
            <a:ext cx="16627630" cy="51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170만 편 이상의 STEM(과학, 기술, 공학, 수학) 분야 논문의 메타데이터 / 1991년 ~ 현재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420028" y="2605222"/>
            <a:ext cx="14455113" cy="1291276"/>
          </a:xfrm>
          <a:custGeom>
            <a:avLst/>
            <a:gdLst/>
            <a:ahLst/>
            <a:cxnLst/>
            <a:rect l="l" t="t" r="r" b="b"/>
            <a:pathLst>
              <a:path w="14455113" h="1291276">
                <a:moveTo>
                  <a:pt x="0" y="0"/>
                </a:moveTo>
                <a:lnTo>
                  <a:pt x="14455113" y="0"/>
                </a:lnTo>
                <a:lnTo>
                  <a:pt x="14455113" y="1291275"/>
                </a:lnTo>
                <a:lnTo>
                  <a:pt x="0" y="1291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84" t="-253807" r="-48098" b="-935347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Box 8"/>
          <p:cNvSpPr txBox="1"/>
          <p:nvPr/>
        </p:nvSpPr>
        <p:spPr>
          <a:xfrm>
            <a:off x="1982796" y="1257103"/>
            <a:ext cx="13534014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데이터셋 : arXiv 데이터셋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데이터셋 소개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0028" y="4109170"/>
            <a:ext cx="14455113" cy="5682600"/>
          </a:xfrm>
          <a:custGeom>
            <a:avLst/>
            <a:gdLst/>
            <a:ahLst/>
            <a:cxnLst/>
            <a:rect l="l" t="t" r="r" b="b"/>
            <a:pathLst>
              <a:path w="14455113" h="5682600">
                <a:moveTo>
                  <a:pt x="0" y="0"/>
                </a:moveTo>
                <a:lnTo>
                  <a:pt x="14455113" y="0"/>
                </a:lnTo>
                <a:lnTo>
                  <a:pt x="14455113" y="5682600"/>
                </a:lnTo>
                <a:lnTo>
                  <a:pt x="0" y="5682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59" t="-136481" r="-46621" b="-53578"/>
            </a:stretch>
          </a:blipFill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655339" y="5896708"/>
            <a:ext cx="8115300" cy="3315680"/>
          </a:xfrm>
          <a:custGeom>
            <a:avLst/>
            <a:gdLst/>
            <a:ahLst/>
            <a:cxnLst/>
            <a:rect l="l" t="t" r="r" b="b"/>
            <a:pathLst>
              <a:path w="8115300" h="3315680">
                <a:moveTo>
                  <a:pt x="0" y="0"/>
                </a:moveTo>
                <a:lnTo>
                  <a:pt x="8115300" y="0"/>
                </a:lnTo>
                <a:lnTo>
                  <a:pt x="8115300" y="3315680"/>
                </a:lnTo>
                <a:lnTo>
                  <a:pt x="0" y="3315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Freeform 8"/>
          <p:cNvSpPr/>
          <p:nvPr/>
        </p:nvSpPr>
        <p:spPr>
          <a:xfrm>
            <a:off x="640131" y="2206096"/>
            <a:ext cx="8130509" cy="3383927"/>
          </a:xfrm>
          <a:custGeom>
            <a:avLst/>
            <a:gdLst/>
            <a:ahLst/>
            <a:cxnLst/>
            <a:rect l="l" t="t" r="r" b="b"/>
            <a:pathLst>
              <a:path w="8130509" h="3383927">
                <a:moveTo>
                  <a:pt x="0" y="0"/>
                </a:moveTo>
                <a:lnTo>
                  <a:pt x="8130508" y="0"/>
                </a:lnTo>
                <a:lnTo>
                  <a:pt x="8130508" y="3383927"/>
                </a:lnTo>
                <a:lnTo>
                  <a:pt x="0" y="3383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9" name="TextBox 9"/>
          <p:cNvSpPr txBox="1"/>
          <p:nvPr/>
        </p:nvSpPr>
        <p:spPr>
          <a:xfrm>
            <a:off x="1925061" y="107612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Google T5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00843" y="2177521"/>
            <a:ext cx="11375442" cy="515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 완전한 Text-to-Text Framework</a:t>
            </a:r>
          </a:p>
          <a:p>
            <a:pPr algn="l">
              <a:lnSpc>
                <a:spcPts val="3409"/>
              </a:lnSpc>
            </a:pPr>
            <a:r>
              <a:rPr lang="en-US" sz="2705" spc="-81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T5 : 모든 NLP Task → text to text 포맷으로 통일</a:t>
            </a:r>
          </a:p>
          <a:p>
            <a:pPr algn="l">
              <a:lnSpc>
                <a:spcPts val="3409"/>
              </a:lnSpc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“초록 → 제목 생성”과 같은 파이프라인을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한 번에 다룰 수 있어 기본 구성요소 (임베딩→셀프어텐션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→피드포워드→디코더)를 모두 포함할 수 있다.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2705" b="1" spc="-81">
              <a:solidFill>
                <a:srgbClr val="292929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 사전학습(Transfer Learning)의 이점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논문 초록-제목 데이터는 보통 수십만 건 이상의 학습 데이터 필요,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T5-base는 이미 C4 코퍼스 같은 방대한 데이터로 학습되어 있어,   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적은 데이터로도 빠르게 수렴하고 안정적인 결과를 얻을 수 있음.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2705" b="1" spc="-81">
              <a:solidFill>
                <a:srgbClr val="292929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2705" b="1" spc="-81">
              <a:solidFill>
                <a:srgbClr val="292929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9490498"/>
            <a:ext cx="16480435" cy="43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Exploring the Limits of Transfer Learning with a Unified Text -to-Text Transformer (2019.10.24)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471755"/>
            <a:ext cx="8915265" cy="7218143"/>
          </a:xfrm>
          <a:custGeom>
            <a:avLst/>
            <a:gdLst/>
            <a:ahLst/>
            <a:cxnLst/>
            <a:rect l="l" t="t" r="r" b="b"/>
            <a:pathLst>
              <a:path w="8915265" h="7218143">
                <a:moveTo>
                  <a:pt x="0" y="0"/>
                </a:moveTo>
                <a:lnTo>
                  <a:pt x="8915265" y="0"/>
                </a:lnTo>
                <a:lnTo>
                  <a:pt x="8915265" y="7218143"/>
                </a:lnTo>
                <a:lnTo>
                  <a:pt x="0" y="7218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Box 8"/>
          <p:cNvSpPr txBox="1"/>
          <p:nvPr/>
        </p:nvSpPr>
        <p:spPr>
          <a:xfrm>
            <a:off x="1925061" y="107612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Config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04945" y="2443180"/>
            <a:ext cx="7950834" cy="4294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모든 모델은 다음 기본 설정으로 공정한 비교를 위해 실험</a:t>
            </a:r>
          </a:p>
          <a:p>
            <a:pPr marL="584138" lvl="1" indent="-292069" algn="l">
              <a:lnSpc>
                <a:spcPts val="3409"/>
              </a:lnSpc>
              <a:spcBef>
                <a:spcPct val="0"/>
              </a:spcBef>
              <a:buFont typeface="Arial"/>
              <a:buChar char="•"/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모델: t5-small</a:t>
            </a:r>
          </a:p>
          <a:p>
            <a:pPr marL="584138" lvl="1" indent="-292069" algn="l">
              <a:lnSpc>
                <a:spcPts val="3409"/>
              </a:lnSpc>
              <a:spcBef>
                <a:spcPct val="0"/>
              </a:spcBef>
              <a:buFont typeface="Arial"/>
              <a:buChar char="•"/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배치 크기: 8</a:t>
            </a:r>
          </a:p>
          <a:p>
            <a:pPr marL="584138" lvl="1" indent="-292069" algn="l">
              <a:lnSpc>
                <a:spcPts val="3409"/>
              </a:lnSpc>
              <a:spcBef>
                <a:spcPct val="0"/>
              </a:spcBef>
              <a:buFont typeface="Arial"/>
              <a:buChar char="•"/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학습률: 3e-5</a:t>
            </a:r>
          </a:p>
          <a:p>
            <a:pPr marL="584138" lvl="1" indent="-292069" algn="l">
              <a:lnSpc>
                <a:spcPts val="3409"/>
              </a:lnSpc>
              <a:spcBef>
                <a:spcPct val="0"/>
              </a:spcBef>
              <a:buFont typeface="Arial"/>
              <a:buChar char="•"/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에폭: 5</a:t>
            </a:r>
          </a:p>
          <a:p>
            <a:pPr marL="584138" lvl="1" indent="-292069" algn="l">
              <a:lnSpc>
                <a:spcPts val="3409"/>
              </a:lnSpc>
              <a:spcBef>
                <a:spcPct val="0"/>
              </a:spcBef>
              <a:buFont typeface="Arial"/>
              <a:buChar char="•"/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입력 길이: 512 (초록)</a:t>
            </a:r>
          </a:p>
          <a:p>
            <a:pPr marL="584138" lvl="1" indent="-292069" algn="l">
              <a:lnSpc>
                <a:spcPts val="3409"/>
              </a:lnSpc>
              <a:spcBef>
                <a:spcPct val="0"/>
              </a:spcBef>
              <a:buFont typeface="Arial"/>
              <a:buChar char="•"/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출력 길이: 128 (제목)</a:t>
            </a:r>
          </a:p>
          <a:p>
            <a:pPr marL="584138" lvl="1" indent="-292069" algn="l">
              <a:lnSpc>
                <a:spcPts val="3409"/>
              </a:lnSpc>
              <a:spcBef>
                <a:spcPct val="0"/>
              </a:spcBef>
              <a:buFont typeface="Arial"/>
              <a:buChar char="•"/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훈련 데이터: 9000개 샘플</a:t>
            </a:r>
          </a:p>
          <a:p>
            <a:pPr marL="584138" lvl="1" indent="-292069" algn="l">
              <a:lnSpc>
                <a:spcPts val="3409"/>
              </a:lnSpc>
              <a:spcBef>
                <a:spcPct val="0"/>
              </a:spcBef>
              <a:buFont typeface="Arial"/>
              <a:buChar char="•"/>
            </a:pPr>
            <a:r>
              <a:rPr lang="en-US" sz="2705" b="1" spc="-8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검증/테스트: 각 1000개 샘플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2705" b="1" spc="-81">
              <a:solidFill>
                <a:srgbClr val="292929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367642"/>
            <a:ext cx="13163896" cy="7371781"/>
          </a:xfrm>
          <a:custGeom>
            <a:avLst/>
            <a:gdLst/>
            <a:ahLst/>
            <a:cxnLst/>
            <a:rect l="l" t="t" r="r" b="b"/>
            <a:pathLst>
              <a:path w="13163896" h="7371781">
                <a:moveTo>
                  <a:pt x="0" y="0"/>
                </a:moveTo>
                <a:lnTo>
                  <a:pt x="13163896" y="0"/>
                </a:lnTo>
                <a:lnTo>
                  <a:pt x="13163896" y="7371782"/>
                </a:lnTo>
                <a:lnTo>
                  <a:pt x="0" y="7371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Box 8"/>
          <p:cNvSpPr txBox="1"/>
          <p:nvPr/>
        </p:nvSpPr>
        <p:spPr>
          <a:xfrm>
            <a:off x="1925061" y="107612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Base T5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90258" y="2348592"/>
            <a:ext cx="3448877" cy="3661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목적: 표준 T5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모델의 성능을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베이스라인으로 설정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endParaRPr lang="en-US" sz="3276" b="1" spc="-98">
              <a:solidFill>
                <a:srgbClr val="000000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의도: 초록에서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 생성 태스크의 기본 성능 측정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224117"/>
            <a:ext cx="11508029" cy="7753534"/>
          </a:xfrm>
          <a:custGeom>
            <a:avLst/>
            <a:gdLst/>
            <a:ahLst/>
            <a:cxnLst/>
            <a:rect l="l" t="t" r="r" b="b"/>
            <a:pathLst>
              <a:path w="11508029" h="7753534">
                <a:moveTo>
                  <a:pt x="0" y="0"/>
                </a:moveTo>
                <a:lnTo>
                  <a:pt x="11508029" y="0"/>
                </a:lnTo>
                <a:lnTo>
                  <a:pt x="11508029" y="7753534"/>
                </a:lnTo>
                <a:lnTo>
                  <a:pt x="0" y="7753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Box 8"/>
          <p:cNvSpPr txBox="1"/>
          <p:nvPr/>
        </p:nvSpPr>
        <p:spPr>
          <a:xfrm>
            <a:off x="1925061" y="107612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Base T5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75291" y="2205067"/>
            <a:ext cx="7106544" cy="261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7"/>
              </a:lnSpc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ROUGE-1 : 0.383</a:t>
            </a:r>
          </a:p>
          <a:p>
            <a:pPr algn="l">
              <a:lnSpc>
                <a:spcPts val="4127"/>
              </a:lnSpc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ROUGE-2 : 0.213</a:t>
            </a:r>
          </a:p>
          <a:p>
            <a:pPr algn="l">
              <a:lnSpc>
                <a:spcPts val="4127"/>
              </a:lnSpc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ROUGE-L : 0.348</a:t>
            </a:r>
          </a:p>
          <a:p>
            <a:pPr algn="l">
              <a:lnSpc>
                <a:spcPts val="4127"/>
              </a:lnSpc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BERT Score F1 : 0.843</a:t>
            </a:r>
          </a:p>
          <a:p>
            <a:pPr algn="l">
              <a:lnSpc>
                <a:spcPts val="4127"/>
              </a:lnSpc>
            </a:pPr>
            <a:endParaRPr lang="en-US" sz="3276" b="1" spc="-98">
              <a:solidFill>
                <a:srgbClr val="000000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353967" y="4605380"/>
            <a:ext cx="6045575" cy="4572102"/>
          </a:xfrm>
          <a:custGeom>
            <a:avLst/>
            <a:gdLst/>
            <a:ahLst/>
            <a:cxnLst/>
            <a:rect l="l" t="t" r="r" b="b"/>
            <a:pathLst>
              <a:path w="6045575" h="4572102">
                <a:moveTo>
                  <a:pt x="0" y="0"/>
                </a:moveTo>
                <a:lnTo>
                  <a:pt x="6045575" y="0"/>
                </a:lnTo>
                <a:lnTo>
                  <a:pt x="6045575" y="4572102"/>
                </a:lnTo>
                <a:lnTo>
                  <a:pt x="0" y="4572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Freeform 8"/>
          <p:cNvSpPr/>
          <p:nvPr/>
        </p:nvSpPr>
        <p:spPr>
          <a:xfrm>
            <a:off x="7635659" y="4880669"/>
            <a:ext cx="10099275" cy="4296813"/>
          </a:xfrm>
          <a:custGeom>
            <a:avLst/>
            <a:gdLst/>
            <a:ahLst/>
            <a:cxnLst/>
            <a:rect l="l" t="t" r="r" b="b"/>
            <a:pathLst>
              <a:path w="10099275" h="4296813">
                <a:moveTo>
                  <a:pt x="0" y="0"/>
                </a:moveTo>
                <a:lnTo>
                  <a:pt x="10099274" y="0"/>
                </a:lnTo>
                <a:lnTo>
                  <a:pt x="10099274" y="4296813"/>
                </a:lnTo>
                <a:lnTo>
                  <a:pt x="0" y="4296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85" r="-3685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9" name="TextBox 9"/>
          <p:cNvSpPr txBox="1"/>
          <p:nvPr/>
        </p:nvSpPr>
        <p:spPr>
          <a:xfrm>
            <a:off x="1925061" y="107612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Dynamic Context Gates(DCG)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3692" y="246449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3967" y="2340791"/>
            <a:ext cx="16362939" cy="208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 DCG 기본 개념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목적: 소스 컨텍스트(인코더)와 타겟 컨텍스트(디코더) 간의 동적 균형 조절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원리: 단어 생성 시 각 컨텍스트의 기여도를 게이트로 제어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응용: 번역, 요약, 제목 생성 등 시퀀스-투-시퀀스 태스크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3967" y="9239250"/>
            <a:ext cx="12563384" cy="853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  <a:spcBef>
                <a:spcPct val="0"/>
              </a:spcBef>
            </a:pPr>
            <a:r>
              <a:rPr lang="en-US" sz="2671" b="1" spc="-8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참고 논문  : Context Gates for Neural Machine Translation, Tu et al. (2017)</a:t>
            </a:r>
          </a:p>
          <a:p>
            <a:pPr algn="l">
              <a:lnSpc>
                <a:spcPts val="3365"/>
              </a:lnSpc>
              <a:spcBef>
                <a:spcPct val="0"/>
              </a:spcBef>
            </a:pPr>
            <a:r>
              <a:rPr lang="en-US" sz="2671" b="1" spc="-8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RNN 기반 NMT에서 소스/타겟 컨텍스트 기여도 동적 제어 메커니즘 최초 제안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3039947"/>
            <a:ext cx="7180286" cy="1054248"/>
          </a:xfrm>
          <a:custGeom>
            <a:avLst/>
            <a:gdLst/>
            <a:ahLst/>
            <a:cxnLst/>
            <a:rect l="l" t="t" r="r" b="b"/>
            <a:pathLst>
              <a:path w="7180286" h="1054248">
                <a:moveTo>
                  <a:pt x="0" y="0"/>
                </a:moveTo>
                <a:lnTo>
                  <a:pt x="7180286" y="0"/>
                </a:lnTo>
                <a:lnTo>
                  <a:pt x="7180286" y="1054249"/>
                </a:lnTo>
                <a:lnTo>
                  <a:pt x="0" y="1054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Freeform 8"/>
          <p:cNvSpPr/>
          <p:nvPr/>
        </p:nvSpPr>
        <p:spPr>
          <a:xfrm>
            <a:off x="8988077" y="3052139"/>
            <a:ext cx="7596790" cy="1054248"/>
          </a:xfrm>
          <a:custGeom>
            <a:avLst/>
            <a:gdLst/>
            <a:ahLst/>
            <a:cxnLst/>
            <a:rect l="l" t="t" r="r" b="b"/>
            <a:pathLst>
              <a:path w="7596790" h="1054248">
                <a:moveTo>
                  <a:pt x="0" y="0"/>
                </a:moveTo>
                <a:lnTo>
                  <a:pt x="7596790" y="0"/>
                </a:lnTo>
                <a:lnTo>
                  <a:pt x="7596790" y="1054249"/>
                </a:lnTo>
                <a:lnTo>
                  <a:pt x="0" y="1054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9" name="TextBox 9"/>
          <p:cNvSpPr txBox="1"/>
          <p:nvPr/>
        </p:nvSpPr>
        <p:spPr>
          <a:xfrm>
            <a:off x="1925061" y="107612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Dynamic Context Gates(DCG)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3692" y="246449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028700" y="4294221"/>
            <a:ext cx="7555112" cy="201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98" lvl="1" indent="-345449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96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c: 인코더 컨텍스트 벡터</a:t>
            </a:r>
          </a:p>
          <a:p>
            <a:pPr marL="690898" lvl="1" indent="-345449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96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ht: 디코더 현재 히든 스테이트</a:t>
            </a:r>
          </a:p>
          <a:p>
            <a:pPr marL="690898" lvl="1" indent="-345449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96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W, b: 학습 가능한 파라미터</a:t>
            </a: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3200" b="1" spc="-96">
              <a:solidFill>
                <a:srgbClr val="292929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302911"/>
            <a:ext cx="3390897" cy="517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27"/>
              </a:lnSpc>
              <a:spcBef>
                <a:spcPct val="0"/>
              </a:spcBef>
            </a:pPr>
            <a:r>
              <a:rPr lang="en-US" sz="3276" b="1" spc="-98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동적</a:t>
            </a:r>
            <a:r>
              <a:rPr lang="en-US" sz="3276" b="1" spc="-98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76" b="1" spc="-98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게이트</a:t>
            </a:r>
            <a:r>
              <a:rPr lang="en-US" sz="3276" b="1" spc="-98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76" b="1" spc="-98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계산</a:t>
            </a:r>
            <a:endParaRPr lang="en-US" sz="3276" b="1" spc="-98" dirty="0">
              <a:solidFill>
                <a:srgbClr val="000000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988077" y="4306413"/>
            <a:ext cx="7555112" cy="100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98" lvl="1" indent="-345449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96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c't: 융합된 컨텍스트 (다음 레이어 입력)</a:t>
            </a: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3200" b="1" spc="-96">
              <a:solidFill>
                <a:srgbClr val="292929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235206" y="2313300"/>
            <a:ext cx="2651994" cy="517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27"/>
              </a:lnSpc>
              <a:spcBef>
                <a:spcPct val="0"/>
              </a:spcBef>
            </a:pPr>
            <a:r>
              <a:rPr lang="en-US" sz="3276" b="1" spc="-98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컨텍스트</a:t>
            </a:r>
            <a:r>
              <a:rPr lang="en-US" sz="3276" b="1" spc="-98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76" b="1" spc="-98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융합</a:t>
            </a:r>
            <a:endParaRPr lang="en-US" sz="3276" b="1" spc="-98" dirty="0">
              <a:solidFill>
                <a:srgbClr val="000000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6498686"/>
            <a:ext cx="9380463" cy="261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27"/>
              </a:lnSpc>
              <a:spcBef>
                <a:spcPct val="0"/>
              </a:spcBef>
            </a:pPr>
            <a:r>
              <a:rPr lang="en-US" sz="3276" b="1" u="none" strike="noStrike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✅ 게이트 적용 위치</a:t>
            </a:r>
          </a:p>
          <a:p>
            <a:pPr marL="0" lvl="0" indent="0" algn="l">
              <a:lnSpc>
                <a:spcPts val="4127"/>
              </a:lnSpc>
              <a:spcBef>
                <a:spcPct val="0"/>
              </a:spcBef>
            </a:pPr>
            <a:r>
              <a:rPr lang="en-US" sz="3276" b="1" u="none" strike="noStrike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전체가 아닌, T5의 각 T5Block 내부에 게이트를 삽입.</a:t>
            </a:r>
          </a:p>
          <a:p>
            <a:pPr marL="0" lvl="0" indent="0" algn="l">
              <a:lnSpc>
                <a:spcPts val="4127"/>
              </a:lnSpc>
              <a:spcBef>
                <a:spcPct val="0"/>
              </a:spcBef>
            </a:pPr>
            <a:r>
              <a:rPr lang="en-US" sz="3276" b="1" u="none" strike="noStrike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셀프 어텐션 출력과 블록 입력(또는 디코더 은닉 상태)</a:t>
            </a:r>
          </a:p>
          <a:p>
            <a:pPr marL="0" lvl="0" indent="0" algn="l">
              <a:lnSpc>
                <a:spcPts val="4127"/>
              </a:lnSpc>
              <a:spcBef>
                <a:spcPct val="0"/>
              </a:spcBef>
            </a:pPr>
            <a:r>
              <a:rPr lang="en-US" sz="3276" b="1" u="none" strike="noStrike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간의 정보를 벡터 단위로 동적으로 조절.</a:t>
            </a:r>
          </a:p>
          <a:p>
            <a:pPr marL="0" lvl="0" indent="0" algn="l">
              <a:lnSpc>
                <a:spcPts val="4127"/>
              </a:lnSpc>
              <a:spcBef>
                <a:spcPct val="0"/>
              </a:spcBef>
            </a:pPr>
            <a:endParaRPr lang="en-US" sz="3276" b="1" u="none" strike="noStrike" spc="-98">
              <a:solidFill>
                <a:srgbClr val="000000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409163" y="6498686"/>
            <a:ext cx="7438137" cy="261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✅ 구현 용이성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PyTorch 기반 서브클래싱으로 T5Block의 forward() 메소드만 수정해 구현.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기존 Trainer 로직 대부분 재사용 가능, 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실험 설계와 성능 비교가 용이.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184838"/>
            <a:ext cx="11232639" cy="7188889"/>
          </a:xfrm>
          <a:custGeom>
            <a:avLst/>
            <a:gdLst/>
            <a:ahLst/>
            <a:cxnLst/>
            <a:rect l="l" t="t" r="r" b="b"/>
            <a:pathLst>
              <a:path w="11232639" h="7188889">
                <a:moveTo>
                  <a:pt x="0" y="0"/>
                </a:moveTo>
                <a:lnTo>
                  <a:pt x="11232639" y="0"/>
                </a:lnTo>
                <a:lnTo>
                  <a:pt x="11232639" y="7188889"/>
                </a:lnTo>
                <a:lnTo>
                  <a:pt x="0" y="7188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Freeform 8"/>
          <p:cNvSpPr/>
          <p:nvPr/>
        </p:nvSpPr>
        <p:spPr>
          <a:xfrm>
            <a:off x="7663625" y="5065556"/>
            <a:ext cx="12442370" cy="4308171"/>
          </a:xfrm>
          <a:custGeom>
            <a:avLst/>
            <a:gdLst/>
            <a:ahLst/>
            <a:cxnLst/>
            <a:rect l="l" t="t" r="r" b="b"/>
            <a:pathLst>
              <a:path w="12442370" h="4308171">
                <a:moveTo>
                  <a:pt x="0" y="0"/>
                </a:moveTo>
                <a:lnTo>
                  <a:pt x="12442371" y="0"/>
                </a:lnTo>
                <a:lnTo>
                  <a:pt x="12442371" y="4308171"/>
                </a:lnTo>
                <a:lnTo>
                  <a:pt x="0" y="4308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9" name="TextBox 9"/>
          <p:cNvSpPr txBox="1"/>
          <p:nvPr/>
        </p:nvSpPr>
        <p:spPr>
          <a:xfrm>
            <a:off x="1925061" y="107612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AdvancedDCG T5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89873" y="2156263"/>
            <a:ext cx="5449262" cy="138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2"/>
              </a:lnSpc>
              <a:spcBef>
                <a:spcPct val="0"/>
              </a:spcBef>
            </a:pPr>
            <a:r>
              <a:rPr lang="en-US" sz="4359" b="1" spc="-13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고급 DCG 메커니즘</a:t>
            </a:r>
          </a:p>
          <a:p>
            <a:pPr algn="l">
              <a:lnSpc>
                <a:spcPts val="5492"/>
              </a:lnSpc>
              <a:spcBef>
                <a:spcPct val="0"/>
              </a:spcBef>
            </a:pPr>
            <a:r>
              <a:rPr lang="en-US" sz="4359" b="1" spc="-13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다중 레이어 DCG 적용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186108"/>
            <a:ext cx="10766947" cy="6143081"/>
          </a:xfrm>
          <a:custGeom>
            <a:avLst/>
            <a:gdLst/>
            <a:ahLst/>
            <a:cxnLst/>
            <a:rect l="l" t="t" r="r" b="b"/>
            <a:pathLst>
              <a:path w="10766947" h="6143081">
                <a:moveTo>
                  <a:pt x="0" y="0"/>
                </a:moveTo>
                <a:lnTo>
                  <a:pt x="10766947" y="0"/>
                </a:lnTo>
                <a:lnTo>
                  <a:pt x="10766947" y="6143081"/>
                </a:lnTo>
                <a:lnTo>
                  <a:pt x="0" y="614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65" b="-48716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Box 8"/>
          <p:cNvSpPr txBox="1"/>
          <p:nvPr/>
        </p:nvSpPr>
        <p:spPr>
          <a:xfrm>
            <a:off x="1925061" y="107739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AdvancedDCG T5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8350321"/>
            <a:ext cx="7018609" cy="1815958"/>
          </a:xfrm>
          <a:custGeom>
            <a:avLst/>
            <a:gdLst/>
            <a:ahLst/>
            <a:cxnLst/>
            <a:rect l="l" t="t" r="r" b="b"/>
            <a:pathLst>
              <a:path w="7018609" h="1815958">
                <a:moveTo>
                  <a:pt x="0" y="0"/>
                </a:moveTo>
                <a:lnTo>
                  <a:pt x="7018609" y="0"/>
                </a:lnTo>
                <a:lnTo>
                  <a:pt x="7018609" y="1815958"/>
                </a:lnTo>
                <a:lnTo>
                  <a:pt x="0" y="1815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8" t="-230665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1" name="TextBox 11"/>
          <p:cNvSpPr txBox="1"/>
          <p:nvPr/>
        </p:nvSpPr>
        <p:spPr>
          <a:xfrm>
            <a:off x="12775291" y="2205067"/>
            <a:ext cx="7106544" cy="261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7"/>
              </a:lnSpc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ROUGE-1 : 0.242</a:t>
            </a:r>
          </a:p>
          <a:p>
            <a:pPr algn="l">
              <a:lnSpc>
                <a:spcPts val="4127"/>
              </a:lnSpc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ROUGE-2 : 0.094</a:t>
            </a:r>
          </a:p>
          <a:p>
            <a:pPr algn="l">
              <a:lnSpc>
                <a:spcPts val="4127"/>
              </a:lnSpc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ROUGE-L : 0.204</a:t>
            </a:r>
          </a:p>
          <a:p>
            <a:pPr algn="l">
              <a:lnSpc>
                <a:spcPts val="4127"/>
              </a:lnSpc>
            </a:pPr>
            <a:r>
              <a:rPr lang="en-US" sz="3276" b="1" spc="-9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BERT Score F1 : 0.787</a:t>
            </a:r>
          </a:p>
          <a:p>
            <a:pPr algn="l">
              <a:lnSpc>
                <a:spcPts val="4127"/>
              </a:lnSpc>
            </a:pPr>
            <a:endParaRPr lang="en-US" sz="3276" b="1" spc="-98">
              <a:solidFill>
                <a:srgbClr val="000000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184838"/>
            <a:ext cx="11335670" cy="7188889"/>
          </a:xfrm>
          <a:custGeom>
            <a:avLst/>
            <a:gdLst/>
            <a:ahLst/>
            <a:cxnLst/>
            <a:rect l="l" t="t" r="r" b="b"/>
            <a:pathLst>
              <a:path w="11335670" h="7188889">
                <a:moveTo>
                  <a:pt x="0" y="0"/>
                </a:moveTo>
                <a:lnTo>
                  <a:pt x="11335670" y="0"/>
                </a:lnTo>
                <a:lnTo>
                  <a:pt x="11335670" y="7188889"/>
                </a:lnTo>
                <a:lnTo>
                  <a:pt x="0" y="7188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7795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Freeform 8"/>
          <p:cNvSpPr/>
          <p:nvPr/>
        </p:nvSpPr>
        <p:spPr>
          <a:xfrm>
            <a:off x="7930781" y="4302469"/>
            <a:ext cx="10067013" cy="5071258"/>
          </a:xfrm>
          <a:custGeom>
            <a:avLst/>
            <a:gdLst/>
            <a:ahLst/>
            <a:cxnLst/>
            <a:rect l="l" t="t" r="r" b="b"/>
            <a:pathLst>
              <a:path w="10067013" h="5071258">
                <a:moveTo>
                  <a:pt x="0" y="0"/>
                </a:moveTo>
                <a:lnTo>
                  <a:pt x="10067013" y="0"/>
                </a:lnTo>
                <a:lnTo>
                  <a:pt x="10067013" y="5071258"/>
                </a:lnTo>
                <a:lnTo>
                  <a:pt x="0" y="507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9" name="TextBox 9"/>
          <p:cNvSpPr txBox="1"/>
          <p:nvPr/>
        </p:nvSpPr>
        <p:spPr>
          <a:xfrm>
            <a:off x="1925061" y="107612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Simple T5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89873" y="2291114"/>
            <a:ext cx="5449262" cy="138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2"/>
              </a:lnSpc>
              <a:spcBef>
                <a:spcPct val="0"/>
              </a:spcBef>
            </a:pPr>
            <a:r>
              <a:rPr lang="en-US" sz="4359" b="1" spc="-13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단순화된 DCG 메커니즘</a:t>
            </a:r>
          </a:p>
          <a:p>
            <a:pPr algn="l">
              <a:lnSpc>
                <a:spcPts val="5492"/>
              </a:lnSpc>
              <a:spcBef>
                <a:spcPct val="0"/>
              </a:spcBef>
            </a:pPr>
            <a:r>
              <a:rPr lang="en-US" sz="4359" b="1" spc="-13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점진적 DCG 활성화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224117"/>
            <a:ext cx="11492746" cy="7743238"/>
          </a:xfrm>
          <a:custGeom>
            <a:avLst/>
            <a:gdLst/>
            <a:ahLst/>
            <a:cxnLst/>
            <a:rect l="l" t="t" r="r" b="b"/>
            <a:pathLst>
              <a:path w="11492746" h="7743238">
                <a:moveTo>
                  <a:pt x="0" y="0"/>
                </a:moveTo>
                <a:lnTo>
                  <a:pt x="11492746" y="0"/>
                </a:lnTo>
                <a:lnTo>
                  <a:pt x="11492746" y="7743237"/>
                </a:lnTo>
                <a:lnTo>
                  <a:pt x="0" y="7743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Box 8"/>
          <p:cNvSpPr txBox="1"/>
          <p:nvPr/>
        </p:nvSpPr>
        <p:spPr>
          <a:xfrm>
            <a:off x="1925061" y="107739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Simple T5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01794" y="2205067"/>
            <a:ext cx="5157606" cy="2613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ROUGE-1 : 0.389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ROUGE-2 : 0.214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ROUGE-L : 0.353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sz="3276" b="1" spc="-98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BERT Score F1 : 0.844</a:t>
            </a:r>
          </a:p>
          <a:p>
            <a:pPr algn="l">
              <a:lnSpc>
                <a:spcPts val="4127"/>
              </a:lnSpc>
              <a:spcBef>
                <a:spcPct val="0"/>
              </a:spcBef>
            </a:pPr>
            <a:endParaRPr lang="en-US" sz="3276" b="1" spc="-98" dirty="0">
              <a:solidFill>
                <a:srgbClr val="000000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576633"/>
            <a:ext cx="13772723" cy="4217896"/>
          </a:xfrm>
          <a:custGeom>
            <a:avLst/>
            <a:gdLst/>
            <a:ahLst/>
            <a:cxnLst/>
            <a:rect l="l" t="t" r="r" b="b"/>
            <a:pathLst>
              <a:path w="13772723" h="4217896">
                <a:moveTo>
                  <a:pt x="0" y="0"/>
                </a:moveTo>
                <a:lnTo>
                  <a:pt x="13772723" y="0"/>
                </a:lnTo>
                <a:lnTo>
                  <a:pt x="13772723" y="4217896"/>
                </a:lnTo>
                <a:lnTo>
                  <a:pt x="0" y="4217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Freeform 8"/>
          <p:cNvSpPr/>
          <p:nvPr/>
        </p:nvSpPr>
        <p:spPr>
          <a:xfrm>
            <a:off x="1028700" y="7008588"/>
            <a:ext cx="11301259" cy="3531643"/>
          </a:xfrm>
          <a:custGeom>
            <a:avLst/>
            <a:gdLst/>
            <a:ahLst/>
            <a:cxnLst/>
            <a:rect l="l" t="t" r="r" b="b"/>
            <a:pathLst>
              <a:path w="11301259" h="3531643">
                <a:moveTo>
                  <a:pt x="0" y="0"/>
                </a:moveTo>
                <a:lnTo>
                  <a:pt x="11301259" y="0"/>
                </a:lnTo>
                <a:lnTo>
                  <a:pt x="11301259" y="3531643"/>
                </a:lnTo>
                <a:lnTo>
                  <a:pt x="0" y="3531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9" name="TextBox 9"/>
          <p:cNvSpPr txBox="1"/>
          <p:nvPr/>
        </p:nvSpPr>
        <p:spPr>
          <a:xfrm>
            <a:off x="1925061" y="107739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Best T5 Model?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코드 구현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48800" y="5954153"/>
            <a:ext cx="8684081" cy="3062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032"/>
              </a:lnSpc>
              <a:spcBef>
                <a:spcPct val="0"/>
              </a:spcBef>
            </a:pPr>
            <a:r>
              <a:rPr lang="en-US" sz="54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성능</a:t>
            </a:r>
            <a:r>
              <a:rPr lang="en-US" sz="54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54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순위</a:t>
            </a:r>
            <a:endParaRPr lang="en-US" sz="5400" b="1" spc="-96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r">
              <a:lnSpc>
                <a:spcPts val="4032"/>
              </a:lnSpc>
              <a:spcBef>
                <a:spcPct val="0"/>
              </a:spcBef>
            </a:pP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SimpleDCG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T5 &gt;</a:t>
            </a:r>
            <a:r>
              <a:rPr lang="ko-KR" alt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Base T5 &gt; </a:t>
            </a: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AdvancedDCG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T5</a:t>
            </a:r>
          </a:p>
          <a:p>
            <a:pPr algn="r">
              <a:lnSpc>
                <a:spcPts val="4032"/>
              </a:lnSpc>
              <a:spcBef>
                <a:spcPct val="0"/>
              </a:spcBef>
            </a:pP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단순화된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DCG </a:t>
            </a: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모델이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가장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높은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성능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달성</a:t>
            </a:r>
            <a:endParaRPr lang="en-US" sz="3200" b="1" spc="-96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r">
              <a:lnSpc>
                <a:spcPts val="4032"/>
              </a:lnSpc>
              <a:spcBef>
                <a:spcPct val="0"/>
              </a:spcBef>
            </a:pPr>
            <a:endParaRPr lang="en-US" sz="3200" b="1" spc="-96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r">
              <a:lnSpc>
                <a:spcPts val="4032"/>
              </a:lnSpc>
              <a:spcBef>
                <a:spcPct val="0"/>
              </a:spcBef>
            </a:pP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AdvancedDCG의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성능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저하</a:t>
            </a:r>
            <a:endParaRPr lang="en-US" sz="3200" b="1" spc="-96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r">
              <a:lnSpc>
                <a:spcPts val="4032"/>
              </a:lnSpc>
              <a:spcBef>
                <a:spcPct val="0"/>
              </a:spcBef>
            </a:pP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SimpleDCG의</a:t>
            </a:r>
            <a:r>
              <a:rPr lang="en-US" sz="3200" b="1" spc="-9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200" b="1" spc="-96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성공</a:t>
            </a:r>
            <a:endParaRPr lang="en-US" sz="3200" b="1" spc="-96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6546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6361" y="-47625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실제 생성 시연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3692" y="246449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896361" y="1765202"/>
            <a:ext cx="3826490" cy="625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1446" lvl="1" indent="-435723" algn="l">
              <a:lnSpc>
                <a:spcPts val="5085"/>
              </a:lnSpc>
              <a:spcBef>
                <a:spcPct val="0"/>
              </a:spcBef>
              <a:buFont typeface="Arial"/>
              <a:buChar char="•"/>
            </a:pPr>
            <a:r>
              <a:rPr lang="en-US" sz="4036" b="1" spc="-12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Base T5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데모 시연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6546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6361" y="-47625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실제 생성 시연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3692" y="246449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5230599" y="365938"/>
            <a:ext cx="2708536" cy="3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데모 시연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6361" y="1765202"/>
            <a:ext cx="3826490" cy="625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1446" lvl="1" indent="-435723" algn="l">
              <a:lnSpc>
                <a:spcPts val="5085"/>
              </a:lnSpc>
              <a:spcBef>
                <a:spcPct val="0"/>
              </a:spcBef>
              <a:buFont typeface="Arial"/>
              <a:buChar char="•"/>
            </a:pPr>
            <a:r>
              <a:rPr lang="en-US" sz="4036" b="1" spc="-121">
                <a:solidFill>
                  <a:srgbClr val="29292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Simple T5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33629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6361" y="27945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Ab2Ti 프로젝트의 결론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50534" y="1756987"/>
            <a:ext cx="4495965" cy="1048819"/>
            <a:chOff x="0" y="0"/>
            <a:chExt cx="1184122" cy="2762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4122" cy="276232"/>
            </a:xfrm>
            <a:custGeom>
              <a:avLst/>
              <a:gdLst/>
              <a:ahLst/>
              <a:cxnLst/>
              <a:rect l="l" t="t" r="r" b="b"/>
              <a:pathLst>
                <a:path w="1184122" h="276232">
                  <a:moveTo>
                    <a:pt x="87821" y="0"/>
                  </a:moveTo>
                  <a:lnTo>
                    <a:pt x="1096302" y="0"/>
                  </a:lnTo>
                  <a:cubicBezTo>
                    <a:pt x="1144804" y="0"/>
                    <a:pt x="1184122" y="39319"/>
                    <a:pt x="1184122" y="87821"/>
                  </a:cubicBezTo>
                  <a:lnTo>
                    <a:pt x="1184122" y="188412"/>
                  </a:lnTo>
                  <a:cubicBezTo>
                    <a:pt x="1184122" y="236914"/>
                    <a:pt x="1144804" y="276232"/>
                    <a:pt x="1096302" y="276232"/>
                  </a:cubicBezTo>
                  <a:lnTo>
                    <a:pt x="87821" y="276232"/>
                  </a:lnTo>
                  <a:cubicBezTo>
                    <a:pt x="39319" y="276232"/>
                    <a:pt x="0" y="236914"/>
                    <a:pt x="0" y="188412"/>
                  </a:cubicBezTo>
                  <a:lnTo>
                    <a:pt x="0" y="87821"/>
                  </a:lnTo>
                  <a:cubicBezTo>
                    <a:pt x="0" y="39319"/>
                    <a:pt x="39319" y="0"/>
                    <a:pt x="87821" y="0"/>
                  </a:cubicBezTo>
                  <a:close/>
                </a:path>
              </a:pathLst>
            </a:custGeom>
            <a:solidFill>
              <a:srgbClr val="4A60D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184122" cy="323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43692" y="246449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211134" y="2022126"/>
            <a:ext cx="5374764" cy="49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2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DCG의 T5 적용 성공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25339" y="1756987"/>
            <a:ext cx="12395886" cy="2318274"/>
            <a:chOff x="0" y="0"/>
            <a:chExt cx="3264760" cy="6105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64760" cy="610574"/>
            </a:xfrm>
            <a:custGeom>
              <a:avLst/>
              <a:gdLst/>
              <a:ahLst/>
              <a:cxnLst/>
              <a:rect l="l" t="t" r="r" b="b"/>
              <a:pathLst>
                <a:path w="3264760" h="610574">
                  <a:moveTo>
                    <a:pt x="31852" y="0"/>
                  </a:moveTo>
                  <a:lnTo>
                    <a:pt x="3232908" y="0"/>
                  </a:lnTo>
                  <a:cubicBezTo>
                    <a:pt x="3241355" y="0"/>
                    <a:pt x="3249457" y="3356"/>
                    <a:pt x="3255431" y="9329"/>
                  </a:cubicBezTo>
                  <a:cubicBezTo>
                    <a:pt x="3261404" y="15303"/>
                    <a:pt x="3264760" y="23405"/>
                    <a:pt x="3264760" y="31852"/>
                  </a:cubicBezTo>
                  <a:lnTo>
                    <a:pt x="3264760" y="578722"/>
                  </a:lnTo>
                  <a:cubicBezTo>
                    <a:pt x="3264760" y="587170"/>
                    <a:pt x="3261404" y="595271"/>
                    <a:pt x="3255431" y="601245"/>
                  </a:cubicBezTo>
                  <a:cubicBezTo>
                    <a:pt x="3249457" y="607218"/>
                    <a:pt x="3241355" y="610574"/>
                    <a:pt x="3232908" y="610574"/>
                  </a:cubicBezTo>
                  <a:lnTo>
                    <a:pt x="31852" y="610574"/>
                  </a:lnTo>
                  <a:cubicBezTo>
                    <a:pt x="14261" y="610574"/>
                    <a:pt x="0" y="596313"/>
                    <a:pt x="0" y="578722"/>
                  </a:cubicBezTo>
                  <a:lnTo>
                    <a:pt x="0" y="31852"/>
                  </a:lnTo>
                  <a:cubicBezTo>
                    <a:pt x="0" y="23405"/>
                    <a:pt x="3356" y="15303"/>
                    <a:pt x="9329" y="9329"/>
                  </a:cubicBezTo>
                  <a:cubicBezTo>
                    <a:pt x="15303" y="3356"/>
                    <a:pt x="23405" y="0"/>
                    <a:pt x="31852" y="0"/>
                  </a:cubicBezTo>
                  <a:close/>
                </a:path>
              </a:pathLst>
            </a:custGeom>
            <a:solidFill>
              <a:srgbClr val="4A60D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3264760" cy="65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781048" y="1874659"/>
            <a:ext cx="12164783" cy="2449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1794" lvl="1" indent="-335897" algn="l">
              <a:lnSpc>
                <a:spcPts val="3920"/>
              </a:lnSpc>
              <a:buFont typeface="Arial"/>
              <a:buChar char="•"/>
            </a:pPr>
            <a:r>
              <a:rPr lang="en-US" sz="3111" b="1" spc="-93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RNN 기반 모델에서만 적용되던 DCG를</a:t>
            </a:r>
          </a:p>
          <a:p>
            <a:pPr algn="l">
              <a:lnSpc>
                <a:spcPts val="3920"/>
              </a:lnSpc>
            </a:pPr>
            <a:r>
              <a:rPr lang="en-US" sz="3111" b="1" spc="-93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    Transformer 기반 T5 모델에 성공적으로 적용</a:t>
            </a:r>
          </a:p>
          <a:p>
            <a:pPr marL="671794" lvl="1" indent="-335897" algn="l">
              <a:lnSpc>
                <a:spcPts val="3920"/>
              </a:lnSpc>
              <a:buFont typeface="Arial"/>
              <a:buChar char="•"/>
            </a:pPr>
            <a:r>
              <a:rPr lang="en-US" sz="3111" b="1" spc="-93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AdvancedDCG: 복잡한 게이트 메커니즘</a:t>
            </a:r>
          </a:p>
          <a:p>
            <a:pPr marL="671794" lvl="1" indent="-335897" algn="l">
              <a:lnSpc>
                <a:spcPts val="3920"/>
              </a:lnSpc>
              <a:buFont typeface="Arial"/>
              <a:buChar char="•"/>
            </a:pPr>
            <a:r>
              <a:rPr lang="en-US" sz="3111" b="1" spc="-93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SimpleDCG:  단일 디코더 레이어 적용, 점진적 활성화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3111" b="1" spc="-93">
              <a:solidFill>
                <a:srgbClr val="EDEDEE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83952" y="4428778"/>
            <a:ext cx="4462546" cy="1691482"/>
            <a:chOff x="0" y="0"/>
            <a:chExt cx="1175321" cy="4454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75321" cy="445493"/>
            </a:xfrm>
            <a:custGeom>
              <a:avLst/>
              <a:gdLst/>
              <a:ahLst/>
              <a:cxnLst/>
              <a:rect l="l" t="t" r="r" b="b"/>
              <a:pathLst>
                <a:path w="1175321" h="445493">
                  <a:moveTo>
                    <a:pt x="88478" y="0"/>
                  </a:moveTo>
                  <a:lnTo>
                    <a:pt x="1086843" y="0"/>
                  </a:lnTo>
                  <a:cubicBezTo>
                    <a:pt x="1135708" y="0"/>
                    <a:pt x="1175321" y="39613"/>
                    <a:pt x="1175321" y="88478"/>
                  </a:cubicBezTo>
                  <a:lnTo>
                    <a:pt x="1175321" y="357015"/>
                  </a:lnTo>
                  <a:cubicBezTo>
                    <a:pt x="1175321" y="405880"/>
                    <a:pt x="1135708" y="445493"/>
                    <a:pt x="1086843" y="445493"/>
                  </a:cubicBezTo>
                  <a:lnTo>
                    <a:pt x="88478" y="445493"/>
                  </a:lnTo>
                  <a:cubicBezTo>
                    <a:pt x="39613" y="445493"/>
                    <a:pt x="0" y="405880"/>
                    <a:pt x="0" y="357015"/>
                  </a:cubicBezTo>
                  <a:lnTo>
                    <a:pt x="0" y="88478"/>
                  </a:lnTo>
                  <a:cubicBezTo>
                    <a:pt x="0" y="39613"/>
                    <a:pt x="39613" y="0"/>
                    <a:pt x="88478" y="0"/>
                  </a:cubicBez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175321" cy="493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25339" y="4428778"/>
            <a:ext cx="12164783" cy="1691482"/>
            <a:chOff x="0" y="0"/>
            <a:chExt cx="3203894" cy="4454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03894" cy="445493"/>
            </a:xfrm>
            <a:custGeom>
              <a:avLst/>
              <a:gdLst/>
              <a:ahLst/>
              <a:cxnLst/>
              <a:rect l="l" t="t" r="r" b="b"/>
              <a:pathLst>
                <a:path w="3203894" h="445493">
                  <a:moveTo>
                    <a:pt x="32457" y="0"/>
                  </a:moveTo>
                  <a:lnTo>
                    <a:pt x="3171436" y="0"/>
                  </a:lnTo>
                  <a:cubicBezTo>
                    <a:pt x="3189362" y="0"/>
                    <a:pt x="3203894" y="14532"/>
                    <a:pt x="3203894" y="32457"/>
                  </a:cubicBezTo>
                  <a:lnTo>
                    <a:pt x="3203894" y="413036"/>
                  </a:lnTo>
                  <a:cubicBezTo>
                    <a:pt x="3203894" y="430962"/>
                    <a:pt x="3189362" y="445493"/>
                    <a:pt x="3171436" y="445493"/>
                  </a:cubicBezTo>
                  <a:lnTo>
                    <a:pt x="32457" y="445493"/>
                  </a:lnTo>
                  <a:cubicBezTo>
                    <a:pt x="14532" y="445493"/>
                    <a:pt x="0" y="430962"/>
                    <a:pt x="0" y="413036"/>
                  </a:cubicBezTo>
                  <a:lnTo>
                    <a:pt x="0" y="32457"/>
                  </a:lnTo>
                  <a:cubicBezTo>
                    <a:pt x="0" y="14532"/>
                    <a:pt x="14532" y="0"/>
                    <a:pt x="32457" y="0"/>
                  </a:cubicBez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203894" cy="493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781048" y="4524353"/>
            <a:ext cx="12052191" cy="201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98" lvl="1" indent="-345449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96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BLEU 점수: 0.087 (8.7%)</a:t>
            </a:r>
          </a:p>
          <a:p>
            <a:pPr marL="690898" lvl="1" indent="-345449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96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BERT F1: 0.844 ± 0.062</a:t>
            </a:r>
          </a:p>
          <a:p>
            <a:pPr marL="690898" lvl="1" indent="-345449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96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ROUGE-1: 0.389 / ROUGE-2: 0.214 / ROUGE-L: 0.353</a:t>
            </a: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3200" b="1" spc="-96">
              <a:solidFill>
                <a:srgbClr val="EDEDEE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61691" y="4905828"/>
            <a:ext cx="3873650" cy="708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5"/>
              </a:lnSpc>
              <a:spcBef>
                <a:spcPct val="0"/>
              </a:spcBef>
            </a:pPr>
            <a:r>
              <a:rPr lang="en-US" sz="4480" b="1" spc="-134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성능 향상 확인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83952" y="6977511"/>
            <a:ext cx="4462546" cy="2290314"/>
            <a:chOff x="0" y="0"/>
            <a:chExt cx="1175321" cy="6032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75321" cy="603210"/>
            </a:xfrm>
            <a:custGeom>
              <a:avLst/>
              <a:gdLst/>
              <a:ahLst/>
              <a:cxnLst/>
              <a:rect l="l" t="t" r="r" b="b"/>
              <a:pathLst>
                <a:path w="1175321" h="603210">
                  <a:moveTo>
                    <a:pt x="88478" y="0"/>
                  </a:moveTo>
                  <a:lnTo>
                    <a:pt x="1086843" y="0"/>
                  </a:lnTo>
                  <a:cubicBezTo>
                    <a:pt x="1135708" y="0"/>
                    <a:pt x="1175321" y="39613"/>
                    <a:pt x="1175321" y="88478"/>
                  </a:cubicBezTo>
                  <a:lnTo>
                    <a:pt x="1175321" y="514732"/>
                  </a:lnTo>
                  <a:cubicBezTo>
                    <a:pt x="1175321" y="563597"/>
                    <a:pt x="1135708" y="603210"/>
                    <a:pt x="1086843" y="603210"/>
                  </a:cubicBezTo>
                  <a:lnTo>
                    <a:pt x="88478" y="603210"/>
                  </a:lnTo>
                  <a:cubicBezTo>
                    <a:pt x="39613" y="603210"/>
                    <a:pt x="0" y="563597"/>
                    <a:pt x="0" y="514732"/>
                  </a:cubicBezTo>
                  <a:lnTo>
                    <a:pt x="0" y="88478"/>
                  </a:lnTo>
                  <a:cubicBezTo>
                    <a:pt x="0" y="39613"/>
                    <a:pt x="39613" y="0"/>
                    <a:pt x="88478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175321" cy="650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76031" y="7590853"/>
            <a:ext cx="3878389" cy="1035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665" b="1" spc="-199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핵심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81048" y="7005044"/>
            <a:ext cx="12164783" cy="2253256"/>
            <a:chOff x="0" y="0"/>
            <a:chExt cx="3203894" cy="5934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03894" cy="593450"/>
            </a:xfrm>
            <a:custGeom>
              <a:avLst/>
              <a:gdLst/>
              <a:ahLst/>
              <a:cxnLst/>
              <a:rect l="l" t="t" r="r" b="b"/>
              <a:pathLst>
                <a:path w="3203894" h="593450">
                  <a:moveTo>
                    <a:pt x="32457" y="0"/>
                  </a:moveTo>
                  <a:lnTo>
                    <a:pt x="3171436" y="0"/>
                  </a:lnTo>
                  <a:cubicBezTo>
                    <a:pt x="3189362" y="0"/>
                    <a:pt x="3203894" y="14532"/>
                    <a:pt x="3203894" y="32457"/>
                  </a:cubicBezTo>
                  <a:lnTo>
                    <a:pt x="3203894" y="560993"/>
                  </a:lnTo>
                  <a:cubicBezTo>
                    <a:pt x="3203894" y="578919"/>
                    <a:pt x="3189362" y="593450"/>
                    <a:pt x="3171436" y="593450"/>
                  </a:cubicBezTo>
                  <a:lnTo>
                    <a:pt x="32457" y="593450"/>
                  </a:lnTo>
                  <a:cubicBezTo>
                    <a:pt x="23849" y="593450"/>
                    <a:pt x="15594" y="590031"/>
                    <a:pt x="9507" y="583944"/>
                  </a:cubicBezTo>
                  <a:cubicBezTo>
                    <a:pt x="3420" y="577857"/>
                    <a:pt x="0" y="569601"/>
                    <a:pt x="0" y="560993"/>
                  </a:cubicBezTo>
                  <a:lnTo>
                    <a:pt x="0" y="32457"/>
                  </a:lnTo>
                  <a:cubicBezTo>
                    <a:pt x="0" y="14532"/>
                    <a:pt x="14532" y="0"/>
                    <a:pt x="32457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3203894" cy="64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781048" y="7104576"/>
            <a:ext cx="11478252" cy="2103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6205" lvl="1" indent="-288102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668" b="1" u="none" strike="noStrike" spc="-80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본 연구는 논문 초록에서 제목 생성이라는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  <a:r>
              <a:rPr lang="en-US" sz="2668" b="1" u="none" strike="noStrike" spc="-80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    구체적인 NLP 태스크에서 DCG 메커니즘의 효과를 입증</a:t>
            </a:r>
          </a:p>
          <a:p>
            <a:pPr marL="576205" lvl="1" indent="-288102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668" b="1" u="none" strike="noStrike" spc="-80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특히 학술 논문의 제목 생성 시 초록의 전문적 내용을 정확히 반영하는 것이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  <a:r>
              <a:rPr lang="en-US" sz="2668" b="1" u="none" strike="noStrike" spc="-80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   중요한데, DCG는 이러한 "내용 충실성(content faithfulness)"을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  <a:r>
              <a:rPr lang="en-US" sz="2668" b="1" u="none" strike="noStrike" spc="-80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   향상시키는 데 효과적임을 확인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50534" y="3026442"/>
            <a:ext cx="4495965" cy="1048819"/>
            <a:chOff x="0" y="0"/>
            <a:chExt cx="1184122" cy="27623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84122" cy="276232"/>
            </a:xfrm>
            <a:custGeom>
              <a:avLst/>
              <a:gdLst/>
              <a:ahLst/>
              <a:cxnLst/>
              <a:rect l="l" t="t" r="r" b="b"/>
              <a:pathLst>
                <a:path w="1184122" h="276232">
                  <a:moveTo>
                    <a:pt x="87821" y="0"/>
                  </a:moveTo>
                  <a:lnTo>
                    <a:pt x="1096302" y="0"/>
                  </a:lnTo>
                  <a:cubicBezTo>
                    <a:pt x="1144804" y="0"/>
                    <a:pt x="1184122" y="39319"/>
                    <a:pt x="1184122" y="87821"/>
                  </a:cubicBezTo>
                  <a:lnTo>
                    <a:pt x="1184122" y="188412"/>
                  </a:lnTo>
                  <a:cubicBezTo>
                    <a:pt x="1184122" y="236914"/>
                    <a:pt x="1144804" y="276232"/>
                    <a:pt x="1096302" y="276232"/>
                  </a:cubicBezTo>
                  <a:lnTo>
                    <a:pt x="87821" y="276232"/>
                  </a:lnTo>
                  <a:cubicBezTo>
                    <a:pt x="39319" y="276232"/>
                    <a:pt x="0" y="236914"/>
                    <a:pt x="0" y="188412"/>
                  </a:cubicBezTo>
                  <a:lnTo>
                    <a:pt x="0" y="87821"/>
                  </a:lnTo>
                  <a:cubicBezTo>
                    <a:pt x="0" y="39319"/>
                    <a:pt x="39319" y="0"/>
                    <a:pt x="87821" y="0"/>
                  </a:cubicBezTo>
                  <a:close/>
                </a:path>
              </a:pathLst>
            </a:custGeom>
            <a:solidFill>
              <a:srgbClr val="4A60D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184122" cy="323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28700" y="3310604"/>
            <a:ext cx="5374764" cy="49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두 가지 DCG 구현 방식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230599" y="365938"/>
            <a:ext cx="2708536" cy="36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미니 프로젝트 설명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33629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83092" y="1677012"/>
            <a:ext cx="4495965" cy="2407823"/>
            <a:chOff x="0" y="0"/>
            <a:chExt cx="1184122" cy="6341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84122" cy="634159"/>
            </a:xfrm>
            <a:custGeom>
              <a:avLst/>
              <a:gdLst/>
              <a:ahLst/>
              <a:cxnLst/>
              <a:rect l="l" t="t" r="r" b="b"/>
              <a:pathLst>
                <a:path w="1184122" h="634159">
                  <a:moveTo>
                    <a:pt x="87821" y="0"/>
                  </a:moveTo>
                  <a:lnTo>
                    <a:pt x="1096302" y="0"/>
                  </a:lnTo>
                  <a:cubicBezTo>
                    <a:pt x="1144804" y="0"/>
                    <a:pt x="1184122" y="39319"/>
                    <a:pt x="1184122" y="87821"/>
                  </a:cubicBezTo>
                  <a:lnTo>
                    <a:pt x="1184122" y="546339"/>
                  </a:lnTo>
                  <a:cubicBezTo>
                    <a:pt x="1184122" y="594841"/>
                    <a:pt x="1144804" y="634159"/>
                    <a:pt x="1096302" y="634159"/>
                  </a:cubicBezTo>
                  <a:lnTo>
                    <a:pt x="87821" y="634159"/>
                  </a:lnTo>
                  <a:cubicBezTo>
                    <a:pt x="39319" y="634159"/>
                    <a:pt x="0" y="594841"/>
                    <a:pt x="0" y="546339"/>
                  </a:cubicBezTo>
                  <a:lnTo>
                    <a:pt x="0" y="87821"/>
                  </a:lnTo>
                  <a:cubicBezTo>
                    <a:pt x="0" y="39319"/>
                    <a:pt x="39319" y="0"/>
                    <a:pt x="87821" y="0"/>
                  </a:cubicBezTo>
                  <a:close/>
                </a:path>
              </a:pathLst>
            </a:custGeom>
            <a:solidFill>
              <a:srgbClr val="4A60D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184122" cy="681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67535" y="1676807"/>
            <a:ext cx="11546873" cy="1048819"/>
            <a:chOff x="0" y="0"/>
            <a:chExt cx="3041152" cy="2762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41152" cy="276232"/>
            </a:xfrm>
            <a:custGeom>
              <a:avLst/>
              <a:gdLst/>
              <a:ahLst/>
              <a:cxnLst/>
              <a:rect l="l" t="t" r="r" b="b"/>
              <a:pathLst>
                <a:path w="3041152" h="276232">
                  <a:moveTo>
                    <a:pt x="34194" y="0"/>
                  </a:moveTo>
                  <a:lnTo>
                    <a:pt x="3006957" y="0"/>
                  </a:lnTo>
                  <a:cubicBezTo>
                    <a:pt x="3025842" y="0"/>
                    <a:pt x="3041152" y="15309"/>
                    <a:pt x="3041152" y="34194"/>
                  </a:cubicBezTo>
                  <a:lnTo>
                    <a:pt x="3041152" y="242038"/>
                  </a:lnTo>
                  <a:cubicBezTo>
                    <a:pt x="3041152" y="251107"/>
                    <a:pt x="3037549" y="259804"/>
                    <a:pt x="3031136" y="266217"/>
                  </a:cubicBezTo>
                  <a:cubicBezTo>
                    <a:pt x="3024724" y="272630"/>
                    <a:pt x="3016026" y="276232"/>
                    <a:pt x="3006957" y="276232"/>
                  </a:cubicBezTo>
                  <a:lnTo>
                    <a:pt x="34194" y="276232"/>
                  </a:lnTo>
                  <a:cubicBezTo>
                    <a:pt x="15309" y="276232"/>
                    <a:pt x="0" y="260923"/>
                    <a:pt x="0" y="242038"/>
                  </a:cubicBezTo>
                  <a:lnTo>
                    <a:pt x="0" y="34194"/>
                  </a:lnTo>
                  <a:cubicBezTo>
                    <a:pt x="0" y="25125"/>
                    <a:pt x="3603" y="16428"/>
                    <a:pt x="10015" y="10015"/>
                  </a:cubicBezTo>
                  <a:cubicBezTo>
                    <a:pt x="16428" y="3603"/>
                    <a:pt x="25125" y="0"/>
                    <a:pt x="34194" y="0"/>
                  </a:cubicBezTo>
                  <a:close/>
                </a:path>
              </a:pathLst>
            </a:custGeom>
            <a:solidFill>
              <a:srgbClr val="4A60D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041152" cy="323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750724" y="4370585"/>
            <a:ext cx="760701" cy="698928"/>
            <a:chOff x="0" y="0"/>
            <a:chExt cx="653578" cy="6005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3578" cy="600504"/>
            </a:xfrm>
            <a:custGeom>
              <a:avLst/>
              <a:gdLst/>
              <a:ahLst/>
              <a:cxnLst/>
              <a:rect l="l" t="t" r="r" b="b"/>
              <a:pathLst>
                <a:path w="653578" h="600504">
                  <a:moveTo>
                    <a:pt x="326789" y="600504"/>
                  </a:moveTo>
                  <a:lnTo>
                    <a:pt x="0" y="194104"/>
                  </a:lnTo>
                  <a:lnTo>
                    <a:pt x="203200" y="194104"/>
                  </a:lnTo>
                  <a:lnTo>
                    <a:pt x="203200" y="0"/>
                  </a:lnTo>
                  <a:lnTo>
                    <a:pt x="450378" y="0"/>
                  </a:lnTo>
                  <a:lnTo>
                    <a:pt x="450378" y="194104"/>
                  </a:lnTo>
                  <a:lnTo>
                    <a:pt x="653578" y="194104"/>
                  </a:lnTo>
                  <a:lnTo>
                    <a:pt x="326789" y="600504"/>
                  </a:lnTo>
                  <a:close/>
                </a:path>
              </a:pathLst>
            </a:custGeom>
            <a:solidFill>
              <a:srgbClr val="4A60D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3200" y="-47625"/>
              <a:ext cx="247178" cy="546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7027675" y="2880923"/>
            <a:ext cx="10481491" cy="6763239"/>
          </a:xfrm>
          <a:custGeom>
            <a:avLst/>
            <a:gdLst/>
            <a:ahLst/>
            <a:cxnLst/>
            <a:rect l="l" t="t" r="r" b="b"/>
            <a:pathLst>
              <a:path w="10481491" h="6763239">
                <a:moveTo>
                  <a:pt x="0" y="0"/>
                </a:moveTo>
                <a:lnTo>
                  <a:pt x="10481491" y="0"/>
                </a:lnTo>
                <a:lnTo>
                  <a:pt x="10481491" y="6763240"/>
                </a:lnTo>
                <a:lnTo>
                  <a:pt x="0" y="6763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7" name="TextBox 17"/>
          <p:cNvSpPr txBox="1"/>
          <p:nvPr/>
        </p:nvSpPr>
        <p:spPr>
          <a:xfrm>
            <a:off x="896361" y="27945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Ab2Ti 프로젝트의 개선점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3692" y="246449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443692" y="1894476"/>
            <a:ext cx="5374764" cy="1925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6"/>
              </a:lnSpc>
            </a:pPr>
            <a:r>
              <a:rPr lang="en-US" sz="6100" b="1" spc="-183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알고리즘</a:t>
            </a:r>
          </a:p>
          <a:p>
            <a:pPr algn="ctr">
              <a:lnSpc>
                <a:spcPts val="7686"/>
              </a:lnSpc>
              <a:spcBef>
                <a:spcPct val="0"/>
              </a:spcBef>
            </a:pPr>
            <a:r>
              <a:rPr lang="en-US" sz="6100" b="1" spc="-183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측면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45701" y="1960970"/>
            <a:ext cx="10863465" cy="49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쉬운 데이터 부터 학습하는 curriculum learning 알고리즘 적용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230599" y="365938"/>
            <a:ext cx="2708536" cy="36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미니 프로젝트 설명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775" y="5333611"/>
            <a:ext cx="6450929" cy="1327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6"/>
              </a:lnSpc>
            </a:pPr>
            <a:r>
              <a:rPr lang="en-US" sz="4219" b="1" spc="-126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 </a:t>
            </a:r>
            <a:r>
              <a:rPr lang="en-US" sz="4219" b="1" spc="-126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게이트</a:t>
            </a:r>
            <a:r>
              <a:rPr lang="en-US" sz="4219" b="1" spc="-126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4219" b="1" spc="-126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융합</a:t>
            </a:r>
            <a:r>
              <a:rPr lang="en-US" sz="4219" b="1" spc="-126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4219" b="1" spc="-126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메커니즘</a:t>
            </a:r>
            <a:r>
              <a:rPr lang="en-US" sz="4219" b="1" spc="-126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4219" b="1" spc="-126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개선</a:t>
            </a:r>
            <a:endParaRPr lang="en-US" sz="4219" b="1" spc="-126" dirty="0">
              <a:solidFill>
                <a:srgbClr val="000000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  <a:p>
            <a:pPr algn="ctr">
              <a:lnSpc>
                <a:spcPts val="5316"/>
              </a:lnSpc>
            </a:pPr>
            <a:r>
              <a:rPr lang="en-US" sz="4219" b="1" spc="-126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 </a:t>
            </a:r>
            <a:r>
              <a:rPr lang="en-US" sz="4219" b="1" spc="-126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커리큘럼</a:t>
            </a:r>
            <a:r>
              <a:rPr lang="en-US" sz="4219" b="1" spc="-126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4219" b="1" spc="-126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러닝</a:t>
            </a:r>
            <a:r>
              <a:rPr lang="en-US" sz="4219" b="1" spc="-126" dirty="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4219" b="1" spc="-126" dirty="0" err="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적용</a:t>
            </a:r>
            <a:endParaRPr lang="en-US" sz="4219" b="1" spc="-126" dirty="0">
              <a:solidFill>
                <a:srgbClr val="000000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027675" y="9704749"/>
            <a:ext cx="9591615" cy="582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2"/>
              </a:lnSpc>
              <a:spcBef>
                <a:spcPct val="0"/>
              </a:spcBef>
            </a:pPr>
            <a:r>
              <a:rPr lang="en-US" sz="1891" b="1" spc="-5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Petru Soviany, Radu Tudor Ionescu, Nicu Sebe, Curriculum Learning: A Survey, International Journal of Computer Vision, vol. 130, pp. 1526–1565, 2022.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83092" y="5990341"/>
            <a:ext cx="4935365" cy="767022"/>
            <a:chOff x="0" y="0"/>
            <a:chExt cx="1299849" cy="20201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99849" cy="202014"/>
            </a:xfrm>
            <a:custGeom>
              <a:avLst/>
              <a:gdLst/>
              <a:ahLst/>
              <a:cxnLst/>
              <a:rect l="l" t="t" r="r" b="b"/>
              <a:pathLst>
                <a:path w="1299849" h="202014">
                  <a:moveTo>
                    <a:pt x="0" y="0"/>
                  </a:moveTo>
                  <a:lnTo>
                    <a:pt x="1299849" y="0"/>
                  </a:lnTo>
                  <a:lnTo>
                    <a:pt x="1299849" y="202014"/>
                  </a:lnTo>
                  <a:lnTo>
                    <a:pt x="0" y="2020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299849" cy="202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27" name="AutoShape 27"/>
          <p:cNvSpPr/>
          <p:nvPr/>
        </p:nvSpPr>
        <p:spPr>
          <a:xfrm>
            <a:off x="3333240" y="6873142"/>
            <a:ext cx="3312461" cy="1428356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33629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K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39400" y="1980020"/>
            <a:ext cx="4495965" cy="2407823"/>
            <a:chOff x="0" y="0"/>
            <a:chExt cx="1184122" cy="6341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84122" cy="634159"/>
            </a:xfrm>
            <a:custGeom>
              <a:avLst/>
              <a:gdLst/>
              <a:ahLst/>
              <a:cxnLst/>
              <a:rect l="l" t="t" r="r" b="b"/>
              <a:pathLst>
                <a:path w="1184122" h="634159">
                  <a:moveTo>
                    <a:pt x="87821" y="0"/>
                  </a:moveTo>
                  <a:lnTo>
                    <a:pt x="1096302" y="0"/>
                  </a:lnTo>
                  <a:cubicBezTo>
                    <a:pt x="1144804" y="0"/>
                    <a:pt x="1184122" y="39319"/>
                    <a:pt x="1184122" y="87821"/>
                  </a:cubicBezTo>
                  <a:lnTo>
                    <a:pt x="1184122" y="546339"/>
                  </a:lnTo>
                  <a:cubicBezTo>
                    <a:pt x="1184122" y="594841"/>
                    <a:pt x="1144804" y="634159"/>
                    <a:pt x="1096302" y="634159"/>
                  </a:cubicBezTo>
                  <a:lnTo>
                    <a:pt x="87821" y="634159"/>
                  </a:lnTo>
                  <a:cubicBezTo>
                    <a:pt x="39319" y="634159"/>
                    <a:pt x="0" y="594841"/>
                    <a:pt x="0" y="546339"/>
                  </a:cubicBezTo>
                  <a:lnTo>
                    <a:pt x="0" y="87821"/>
                  </a:lnTo>
                  <a:cubicBezTo>
                    <a:pt x="0" y="39319"/>
                    <a:pt x="39319" y="0"/>
                    <a:pt x="87821" y="0"/>
                  </a:cubicBez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184122" cy="681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67535" y="1676807"/>
            <a:ext cx="11546873" cy="1048819"/>
            <a:chOff x="0" y="0"/>
            <a:chExt cx="3041152" cy="2762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41152" cy="276232"/>
            </a:xfrm>
            <a:custGeom>
              <a:avLst/>
              <a:gdLst/>
              <a:ahLst/>
              <a:cxnLst/>
              <a:rect l="l" t="t" r="r" b="b"/>
              <a:pathLst>
                <a:path w="3041152" h="276232">
                  <a:moveTo>
                    <a:pt x="34194" y="0"/>
                  </a:moveTo>
                  <a:lnTo>
                    <a:pt x="3006957" y="0"/>
                  </a:lnTo>
                  <a:cubicBezTo>
                    <a:pt x="3025842" y="0"/>
                    <a:pt x="3041152" y="15309"/>
                    <a:pt x="3041152" y="34194"/>
                  </a:cubicBezTo>
                  <a:lnTo>
                    <a:pt x="3041152" y="242038"/>
                  </a:lnTo>
                  <a:cubicBezTo>
                    <a:pt x="3041152" y="251107"/>
                    <a:pt x="3037549" y="259804"/>
                    <a:pt x="3031136" y="266217"/>
                  </a:cubicBezTo>
                  <a:cubicBezTo>
                    <a:pt x="3024724" y="272630"/>
                    <a:pt x="3016026" y="276232"/>
                    <a:pt x="3006957" y="276232"/>
                  </a:cubicBezTo>
                  <a:lnTo>
                    <a:pt x="34194" y="276232"/>
                  </a:lnTo>
                  <a:cubicBezTo>
                    <a:pt x="15309" y="276232"/>
                    <a:pt x="0" y="260923"/>
                    <a:pt x="0" y="242038"/>
                  </a:cubicBezTo>
                  <a:lnTo>
                    <a:pt x="0" y="34194"/>
                  </a:lnTo>
                  <a:cubicBezTo>
                    <a:pt x="0" y="25125"/>
                    <a:pt x="3603" y="16428"/>
                    <a:pt x="10015" y="10015"/>
                  </a:cubicBezTo>
                  <a:cubicBezTo>
                    <a:pt x="16428" y="3603"/>
                    <a:pt x="25125" y="0"/>
                    <a:pt x="34194" y="0"/>
                  </a:cubicBez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041152" cy="323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307032" y="4673593"/>
            <a:ext cx="760701" cy="698928"/>
            <a:chOff x="0" y="0"/>
            <a:chExt cx="653578" cy="6005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3578" cy="600504"/>
            </a:xfrm>
            <a:custGeom>
              <a:avLst/>
              <a:gdLst/>
              <a:ahLst/>
              <a:cxnLst/>
              <a:rect l="l" t="t" r="r" b="b"/>
              <a:pathLst>
                <a:path w="653578" h="600504">
                  <a:moveTo>
                    <a:pt x="326789" y="600504"/>
                  </a:moveTo>
                  <a:lnTo>
                    <a:pt x="0" y="194104"/>
                  </a:lnTo>
                  <a:lnTo>
                    <a:pt x="203200" y="194104"/>
                  </a:lnTo>
                  <a:lnTo>
                    <a:pt x="203200" y="0"/>
                  </a:lnTo>
                  <a:lnTo>
                    <a:pt x="450378" y="0"/>
                  </a:lnTo>
                  <a:lnTo>
                    <a:pt x="450378" y="194104"/>
                  </a:lnTo>
                  <a:lnTo>
                    <a:pt x="653578" y="194104"/>
                  </a:lnTo>
                  <a:lnTo>
                    <a:pt x="326789" y="600504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3200" y="-47625"/>
              <a:ext cx="247178" cy="546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9883995" y="5150179"/>
            <a:ext cx="8055140" cy="4108121"/>
          </a:xfrm>
          <a:custGeom>
            <a:avLst/>
            <a:gdLst/>
            <a:ahLst/>
            <a:cxnLst/>
            <a:rect l="l" t="t" r="r" b="b"/>
            <a:pathLst>
              <a:path w="8055140" h="4108121">
                <a:moveTo>
                  <a:pt x="0" y="0"/>
                </a:moveTo>
                <a:lnTo>
                  <a:pt x="8055140" y="0"/>
                </a:lnTo>
                <a:lnTo>
                  <a:pt x="8055140" y="4108121"/>
                </a:lnTo>
                <a:lnTo>
                  <a:pt x="0" y="4108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7" name="TextBox 17"/>
          <p:cNvSpPr txBox="1"/>
          <p:nvPr/>
        </p:nvSpPr>
        <p:spPr>
          <a:xfrm>
            <a:off x="896361" y="27945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Ab2Ti 프로젝트의 개선점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3692" y="246449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6074873" y="2805806"/>
            <a:ext cx="6702669" cy="4272952"/>
          </a:xfrm>
          <a:custGeom>
            <a:avLst/>
            <a:gdLst/>
            <a:ahLst/>
            <a:cxnLst/>
            <a:rect l="l" t="t" r="r" b="b"/>
            <a:pathLst>
              <a:path w="6702669" h="4272952">
                <a:moveTo>
                  <a:pt x="0" y="0"/>
                </a:moveTo>
                <a:lnTo>
                  <a:pt x="6702669" y="0"/>
                </a:lnTo>
                <a:lnTo>
                  <a:pt x="6702669" y="4272952"/>
                </a:lnTo>
                <a:lnTo>
                  <a:pt x="0" y="4272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0" name="TextBox 20"/>
          <p:cNvSpPr txBox="1"/>
          <p:nvPr/>
        </p:nvSpPr>
        <p:spPr>
          <a:xfrm>
            <a:off x="0" y="2197484"/>
            <a:ext cx="5374764" cy="1925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6"/>
              </a:lnSpc>
            </a:pPr>
            <a:r>
              <a:rPr lang="en-US" sz="6100" b="1" spc="-183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평가 메트릭</a:t>
            </a:r>
          </a:p>
          <a:p>
            <a:pPr algn="ctr">
              <a:lnSpc>
                <a:spcPts val="7686"/>
              </a:lnSpc>
              <a:spcBef>
                <a:spcPct val="0"/>
              </a:spcBef>
            </a:pPr>
            <a:r>
              <a:rPr lang="en-US" sz="6100" b="1" spc="-183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추가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45701" y="1960970"/>
            <a:ext cx="10863465" cy="49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2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EDEDE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Bert-Score ,METEOR Score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30599" y="365938"/>
            <a:ext cx="2708536" cy="36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741" b="1" spc="-82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미니 프로젝트 설명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1579" y="5648746"/>
            <a:ext cx="4731607" cy="245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9"/>
              </a:lnSpc>
            </a:pPr>
            <a:r>
              <a:rPr lang="en-US" sz="3126" b="1" spc="-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1.학습 중 평가 메트릭 부재</a:t>
            </a:r>
          </a:p>
          <a:p>
            <a:pPr algn="ctr">
              <a:lnSpc>
                <a:spcPts val="3939"/>
              </a:lnSpc>
            </a:pPr>
            <a:r>
              <a:rPr lang="en-US" sz="3126" b="1" spc="-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2.정성적 평가 부족</a:t>
            </a:r>
          </a:p>
          <a:p>
            <a:pPr algn="ctr">
              <a:lnSpc>
                <a:spcPts val="3939"/>
              </a:lnSpc>
            </a:pPr>
            <a:r>
              <a:rPr lang="en-US" sz="3126" b="1" spc="-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3.평가 메트릭과</a:t>
            </a:r>
          </a:p>
          <a:p>
            <a:pPr algn="ctr">
              <a:lnSpc>
                <a:spcPts val="3939"/>
              </a:lnSpc>
            </a:pPr>
            <a:r>
              <a:rPr lang="en-US" sz="3126" b="1" spc="-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학습 과정의 분리</a:t>
            </a:r>
          </a:p>
          <a:p>
            <a:pPr algn="ctr">
              <a:lnSpc>
                <a:spcPts val="3939"/>
              </a:lnSpc>
            </a:pPr>
            <a:endParaRPr lang="en-US" sz="3126" b="1" spc="-93">
              <a:solidFill>
                <a:srgbClr val="000000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040971" y="9530103"/>
            <a:ext cx="5951527" cy="39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9"/>
              </a:lnSpc>
              <a:spcBef>
                <a:spcPct val="0"/>
              </a:spcBef>
            </a:pPr>
            <a:r>
              <a:rPr lang="en-US" sz="2515" b="1" spc="-7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Banerjee &amp; Lavie, ACL 2005, METEOR.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57460" y="7185189"/>
            <a:ext cx="5583511" cy="39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2"/>
              </a:lnSpc>
              <a:spcBef>
                <a:spcPct val="0"/>
              </a:spcBef>
            </a:pPr>
            <a:r>
              <a:rPr lang="en-US" sz="2486" b="1" spc="-7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Zhang et al., ICLR 2020, BERTScore.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41389" y="4092832"/>
            <a:ext cx="9138809" cy="1263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000" b="1" spc="-240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감사합니다</a:t>
            </a:r>
            <a:r>
              <a:rPr lang="en-US" sz="8000" b="1" spc="-240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BBBFA-D9CB-BF5D-9C96-2FCE2E6E79CB}"/>
              </a:ext>
            </a:extLst>
          </p:cNvPr>
          <p:cNvSpPr txBox="1"/>
          <p:nvPr/>
        </p:nvSpPr>
        <p:spPr>
          <a:xfrm>
            <a:off x="3048000" y="8496300"/>
            <a:ext cx="14748768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4400" b="1" spc="-440" dirty="0" err="1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논문</a:t>
            </a:r>
            <a:r>
              <a:rPr lang="en-US" sz="4400" b="1" spc="-440" dirty="0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 </a:t>
            </a:r>
            <a:r>
              <a:rPr lang="en-US" sz="4400" b="1" spc="-440" dirty="0" err="1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제목</a:t>
            </a:r>
            <a:r>
              <a:rPr lang="en-US" sz="4400" b="1" spc="-440" dirty="0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 </a:t>
            </a:r>
            <a:r>
              <a:rPr lang="en-US" sz="4400" b="1" spc="-440" dirty="0" err="1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생성기</a:t>
            </a:r>
            <a:endParaRPr lang="en-US" sz="4400" b="1" spc="-440" dirty="0">
              <a:solidFill>
                <a:srgbClr val="4A60DD"/>
              </a:solidFill>
              <a:latin typeface="Tlab 돋움 레귤러 Bold"/>
              <a:ea typeface="Tlab 돋움 레귤러 Bold"/>
              <a:sym typeface="Tlab 돋움 레귤러 Bold"/>
            </a:endParaRPr>
          </a:p>
          <a:p>
            <a:pPr algn="r"/>
            <a:r>
              <a:rPr lang="en-US" sz="4400" b="1" spc="-440" dirty="0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Ab2Ti(Abstract to </a:t>
            </a:r>
            <a:r>
              <a:rPr lang="en-US" sz="4400" b="1" spc="-440" dirty="0" err="1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TItle</a:t>
            </a:r>
            <a:r>
              <a:rPr lang="en-US" sz="4400" b="1" spc="-440" dirty="0">
                <a:solidFill>
                  <a:srgbClr val="4A60DD"/>
                </a:solidFill>
                <a:latin typeface="Tlab 돋움 레귤러 Bold"/>
                <a:ea typeface="Tlab 돋움 레귤러 Bold"/>
                <a:sym typeface="Tlab 돋움 레귤러 Bold"/>
              </a:rPr>
              <a:t>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AC0018-8842-37D8-5F54-B3C8C7D1AE28}"/>
              </a:ext>
            </a:extLst>
          </p:cNvPr>
          <p:cNvSpPr txBox="1"/>
          <p:nvPr/>
        </p:nvSpPr>
        <p:spPr>
          <a:xfrm>
            <a:off x="491232" y="9081076"/>
            <a:ext cx="8839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4400" b="1" spc="-440" dirty="0">
                <a:solidFill>
                  <a:srgbClr val="4A60DD"/>
                </a:solidFill>
                <a:latin typeface="Tlab 돋움 레귤러 Bold"/>
                <a:ea typeface="Tlab 돋움 레귤러 Bold"/>
              </a:rPr>
              <a:t>https://github.com/minuum/NLP1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893</Words>
  <Application>Microsoft Macintosh PowerPoint</Application>
  <PresentationFormat>Custom</PresentationFormat>
  <Paragraphs>176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Cabin Bold</vt:lpstr>
      <vt:lpstr>Tlab 돋움 레귤러 Bold</vt:lpstr>
      <vt:lpstr>Calibri</vt:lpstr>
      <vt:lpstr>Tlab 돋움 레귤러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자연어처리1  미니 프로젝트 발표</dc:title>
  <cp:lastModifiedBy>이민우</cp:lastModifiedBy>
  <cp:revision>2</cp:revision>
  <dcterms:created xsi:type="dcterms:W3CDTF">2006-08-16T00:00:00Z</dcterms:created>
  <dcterms:modified xsi:type="dcterms:W3CDTF">2025-06-04T01:44:26Z</dcterms:modified>
  <dc:identifier>DAGpU2sZhoA</dc:identifier>
</cp:coreProperties>
</file>